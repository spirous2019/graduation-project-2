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50" r:id="rId1"/>
  </p:sldMasterIdLst>
  <p:notesMasterIdLst>
    <p:notesMasterId r:id="rId14"/>
  </p:notesMasterIdLst>
  <p:handoutMasterIdLst>
    <p:handoutMasterId r:id="rId15"/>
  </p:handoutMasterIdLst>
  <p:sldIdLst>
    <p:sldId id="258" r:id="rId2"/>
    <p:sldId id="257" r:id="rId3"/>
    <p:sldId id="259" r:id="rId4"/>
    <p:sldId id="260" r:id="rId5"/>
    <p:sldId id="261" r:id="rId6"/>
    <p:sldId id="262" r:id="rId7"/>
    <p:sldId id="268" r:id="rId8"/>
    <p:sldId id="263" r:id="rId9"/>
    <p:sldId id="269" r:id="rId10"/>
    <p:sldId id="270" r:id="rId11"/>
    <p:sldId id="271" r:id="rId12"/>
    <p:sldId id="267" r:id="rId13"/>
  </p:sldIdLst>
  <p:sldSz cx="12192000" cy="6858000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Blackadder ITC" pitchFamily="82" charset="0"/>
        <a:ea typeface="Arial Unicode MS" pitchFamily="34" charset="-128"/>
        <a:cs typeface="Arial Unicode MS" pitchFamily="34" charset="-128"/>
      </a:defRPr>
    </a:lvl9pPr>
  </p:defaultTextStyle>
  <p:extLst>
    <p:ext uri="{EFAFB233-063F-42B5-8137-9DF3F51BA10A}">
      <p15:sldGuideLst xmlns:p15="http://schemas.microsoft.com/office/powerpoint/2012/main">
        <p15:guide id="1" orient="horz" pos="2047" userDrawn="1">
          <p15:clr>
            <a:srgbClr val="A4A3A4"/>
          </p15:clr>
        </p15:guide>
        <p15:guide id="2" pos="4029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224">
          <p15:clr>
            <a:srgbClr val="A4A3A4"/>
          </p15:clr>
        </p15:guide>
        <p15:guide id="2" pos="2237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B5F9F"/>
    <a:srgbClr val="1E65AA"/>
    <a:srgbClr val="1B64A8"/>
    <a:srgbClr val="005088"/>
    <a:srgbClr val="E6E6FA"/>
    <a:srgbClr val="5D5D5E"/>
    <a:srgbClr val="F0582B"/>
    <a:srgbClr val="EF562A"/>
    <a:srgbClr val="29385E"/>
    <a:srgbClr val="F1592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7435" autoAdjust="0"/>
    <p:restoredTop sz="92586" autoAdjust="0"/>
  </p:normalViewPr>
  <p:slideViewPr>
    <p:cSldViewPr snapToGrid="0">
      <p:cViewPr varScale="1">
        <p:scale>
          <a:sx n="82" d="100"/>
          <a:sy n="82" d="100"/>
        </p:scale>
        <p:origin x="605" y="72"/>
      </p:cViewPr>
      <p:guideLst>
        <p:guide orient="horz" pos="2047"/>
        <p:guide pos="4029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 varScale="1">
        <p:scale>
          <a:sx n="56" d="100"/>
          <a:sy n="56" d="100"/>
        </p:scale>
        <p:origin x="3312" y="53"/>
      </p:cViewPr>
      <p:guideLst>
        <p:guide orient="horz" pos="3224"/>
        <p:guide pos="2237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notesMaster" Target="notesMasters/notes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682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327683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327684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327685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CDE03985-1438-4D29-9DA7-31D61D3C2143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22319546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970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4988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211971" name="Rectangle 1027"/>
          <p:cNvSpPr>
            <a:spLocks noGrp="1" noChangeArrowheads="1"/>
          </p:cNvSpPr>
          <p:nvPr>
            <p:ph type="dt" idx="1"/>
          </p:nvPr>
        </p:nvSpPr>
        <p:spPr bwMode="auto">
          <a:xfrm>
            <a:off x="4024313" y="0"/>
            <a:ext cx="3074987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211972" name="Rectangle 1028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38113" y="766763"/>
            <a:ext cx="6823075" cy="3838575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211973" name="Rectangle 1029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46150" y="4862513"/>
            <a:ext cx="5207000" cy="460533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1974" name="Rectangle 1030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4988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Times New Roman" pitchFamily="18" charset="0"/>
              </a:defRPr>
            </a:lvl1pPr>
          </a:lstStyle>
          <a:p>
            <a:endParaRPr lang="en-GB"/>
          </a:p>
        </p:txBody>
      </p:sp>
      <p:sp>
        <p:nvSpPr>
          <p:cNvPr id="211975" name="Rectangle 103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4313" y="9721850"/>
            <a:ext cx="3074987" cy="51276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200">
                <a:latin typeface="Times New Roman" pitchFamily="18" charset="0"/>
              </a:defRPr>
            </a:lvl1pPr>
          </a:lstStyle>
          <a:p>
            <a:fld id="{9D8986B9-8119-4BDF-A4DA-562716558E1A}" type="slidenum">
              <a:rPr lang="en-GB"/>
              <a:pPr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346148217"/>
      </p:ext>
    </p:extLst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kumimoji="1" sz="1200" kern="1200">
        <a:solidFill>
          <a:schemeClr val="tx1"/>
        </a:solidFill>
        <a:latin typeface="Arial Narrow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4778416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Relationship Id="rId5" Type="http://schemas.openxmlformats.org/officeDocument/2006/relationships/image" Target="../media/image4.png"/><Relationship Id="rId4" Type="http://schemas.openxmlformats.org/officeDocument/2006/relationships/image" Target="../media/image2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lish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Picture 29">
            <a:extLst>
              <a:ext uri="{FF2B5EF4-FFF2-40B4-BE49-F238E27FC236}">
                <a16:creationId xmlns:a16="http://schemas.microsoft.com/office/drawing/2014/main" id="{A5DD03B1-7B8B-4F5F-8DC1-D6054BB1CE8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6744" name="Picture 36743" descr="A close up of a logo&#10;&#10;Description automatically generated">
            <a:extLst>
              <a:ext uri="{FF2B5EF4-FFF2-40B4-BE49-F238E27FC236}">
                <a16:creationId xmlns:a16="http://schemas.microsoft.com/office/drawing/2014/main" id="{44839516-8561-46C2-A420-4D875233BB1D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36749" name="Picture 36748" descr="A close up of a logo&#10;&#10;Description automatically generated">
            <a:extLst>
              <a:ext uri="{FF2B5EF4-FFF2-40B4-BE49-F238E27FC236}">
                <a16:creationId xmlns:a16="http://schemas.microsoft.com/office/drawing/2014/main" id="{39160131-3E1B-4225-83DC-560D5F7A850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745" name="Rectangle 905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19200" y="2904335"/>
            <a:ext cx="9753600" cy="1049337"/>
          </a:xfrm>
        </p:spPr>
        <p:txBody>
          <a:bodyPr/>
          <a:lstStyle>
            <a:lvl1pPr>
              <a:defRPr lang="en-US" sz="3600" b="1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pPr lvl="0"/>
            <a:r>
              <a:rPr lang="en-US" noProof="0" dirty="0"/>
              <a:t>Presentation Title</a:t>
            </a:r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6861626" y="5459446"/>
            <a:ext cx="4144433" cy="307389"/>
          </a:xfrm>
        </p:spPr>
        <p:txBody>
          <a:bodyPr/>
          <a:lstStyle>
            <a:lvl1pPr marL="0" indent="0" algn="ctr">
              <a:buNone/>
              <a:defRPr sz="1600" u="sng">
                <a:solidFill>
                  <a:srgbClr val="0B5F9F"/>
                </a:solidFill>
              </a:defRPr>
            </a:lvl1pPr>
          </a:lstStyle>
          <a:p>
            <a:pPr lvl="0"/>
            <a:r>
              <a:rPr lang="en-US" dirty="0"/>
              <a:t>email@eng.asu.edu.eg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384181" y="5084361"/>
            <a:ext cx="5099321" cy="375085"/>
          </a:xfrm>
        </p:spPr>
        <p:txBody>
          <a:bodyPr/>
          <a:lstStyle>
            <a:lvl1pPr marL="0" indent="0" algn="ctr">
              <a:buNone/>
              <a:defRPr i="1" u="none">
                <a:solidFill>
                  <a:srgbClr val="0B5F9F"/>
                </a:solidFill>
              </a:defRPr>
            </a:lvl1pPr>
          </a:lstStyle>
          <a:p>
            <a:pPr lvl="0"/>
            <a:r>
              <a:rPr lang="en-US" dirty="0"/>
              <a:t>Name of Presenter</a:t>
            </a:r>
          </a:p>
        </p:txBody>
      </p:sp>
      <p:pic>
        <p:nvPicPr>
          <p:cNvPr id="36740" name="Picture 36739" descr="A close up of a sign&#10;&#10;Description automatically generated">
            <a:extLst>
              <a:ext uri="{FF2B5EF4-FFF2-40B4-BE49-F238E27FC236}">
                <a16:creationId xmlns:a16="http://schemas.microsoft.com/office/drawing/2014/main" id="{0A70D410-711D-4883-856F-59375EF26D4B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760" y="130343"/>
            <a:ext cx="1554480" cy="1554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abic 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" name="Picture 13" descr="A close up of a logo&#10;&#10;Description automatically generated">
            <a:extLst>
              <a:ext uri="{FF2B5EF4-FFF2-40B4-BE49-F238E27FC236}">
                <a16:creationId xmlns:a16="http://schemas.microsoft.com/office/drawing/2014/main" id="{08F6C7A8-FDAF-4917-8599-8B7F727F8AD7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1DD25637-B7F7-47FC-8338-2C8370A598EB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49DE493F-07C1-492F-AAE2-AE735DC45F4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745" name="Rectangle 905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1219200" y="2904335"/>
            <a:ext cx="9753600" cy="1049337"/>
          </a:xfrm>
        </p:spPr>
        <p:txBody>
          <a:bodyPr/>
          <a:lstStyle>
            <a:lvl1pPr>
              <a:defRPr lang="en-US" sz="3600" b="1" i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pPr lvl="0"/>
            <a:r>
              <a:rPr lang="ar-EG" noProof="0" dirty="0"/>
              <a:t>عنوان العرض</a:t>
            </a:r>
            <a:endParaRPr lang="en-US" noProof="0" dirty="0"/>
          </a:p>
        </p:txBody>
      </p:sp>
      <p:sp>
        <p:nvSpPr>
          <p:cNvPr id="13" name="Content Placeholder 12"/>
          <p:cNvSpPr>
            <a:spLocks noGrp="1"/>
          </p:cNvSpPr>
          <p:nvPr>
            <p:ph sz="quarter" idx="11" hasCustomPrompt="1"/>
          </p:nvPr>
        </p:nvSpPr>
        <p:spPr>
          <a:xfrm>
            <a:off x="6861626" y="5459446"/>
            <a:ext cx="4144433" cy="307389"/>
          </a:xfrm>
        </p:spPr>
        <p:txBody>
          <a:bodyPr/>
          <a:lstStyle>
            <a:lvl1pPr marL="0" indent="0" algn="ctr">
              <a:buNone/>
              <a:defRPr sz="1600" u="sng">
                <a:solidFill>
                  <a:srgbClr val="0B5F9F"/>
                </a:solidFill>
              </a:defRPr>
            </a:lvl1pPr>
          </a:lstStyle>
          <a:p>
            <a:pPr lvl="0"/>
            <a:r>
              <a:rPr lang="en-US" dirty="0"/>
              <a:t>email@eng.asu.edu.eg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12" hasCustomPrompt="1"/>
          </p:nvPr>
        </p:nvSpPr>
        <p:spPr>
          <a:xfrm>
            <a:off x="6395260" y="5084360"/>
            <a:ext cx="5099320" cy="375085"/>
          </a:xfrm>
        </p:spPr>
        <p:txBody>
          <a:bodyPr/>
          <a:lstStyle>
            <a:lvl1pPr marL="0" indent="0" algn="ctr">
              <a:buNone/>
              <a:defRPr sz="2400" i="0" u="none">
                <a:solidFill>
                  <a:srgbClr val="0B5F9F"/>
                </a:solidFill>
                <a:latin typeface="Sakkal Majalla" panose="02000000000000000000" pitchFamily="2" charset="-78"/>
                <a:cs typeface="Sakkal Majalla" panose="02000000000000000000" pitchFamily="2" charset="-78"/>
              </a:defRPr>
            </a:lvl1pPr>
          </a:lstStyle>
          <a:p>
            <a:pPr lvl="0"/>
            <a:r>
              <a:rPr lang="ar-EG" dirty="0"/>
              <a:t>مقدم العرض</a:t>
            </a:r>
            <a:endParaRPr lang="en-US" dirty="0"/>
          </a:p>
        </p:txBody>
      </p:sp>
      <p:pic>
        <p:nvPicPr>
          <p:cNvPr id="12" name="Picture 11" descr="A close up of a sign&#10;&#10;Description automatically generated">
            <a:extLst>
              <a:ext uri="{FF2B5EF4-FFF2-40B4-BE49-F238E27FC236}">
                <a16:creationId xmlns:a16="http://schemas.microsoft.com/office/drawing/2014/main" id="{786A8129-338E-4C79-9ADD-9FE2B1AE4963}"/>
              </a:ext>
            </a:extLst>
          </p:cNvPr>
          <p:cNvPicPr>
            <a:picLocks noChangeAspect="1"/>
          </p:cNvPicPr>
          <p:nvPr userDrawn="1"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318760" y="130343"/>
            <a:ext cx="1554480" cy="1554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902823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English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4D5CEDC8-D355-48AF-B3A2-010EB511FD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4ADB7EDB-E2AA-455A-BE1E-9F708B12B3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151" y="578201"/>
            <a:ext cx="10299700" cy="7307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10748"/>
            <a:ext cx="10363200" cy="4984947"/>
          </a:xfrm>
        </p:spPr>
        <p:txBody>
          <a:bodyPr/>
          <a:lstStyle>
            <a:lvl1pPr>
              <a:defRPr sz="1600">
                <a:solidFill>
                  <a:srgbClr val="0B5F9F"/>
                </a:solidFill>
              </a:defRPr>
            </a:lvl1pPr>
            <a:lvl2pPr marL="742950" indent="-285750">
              <a:buClr>
                <a:srgbClr val="5D5D5E"/>
              </a:buClr>
              <a:buSzPct val="100000"/>
              <a:buFont typeface="Courier New" panose="02070309020205020404" pitchFamily="49" charset="0"/>
              <a:buChar char="o"/>
              <a:defRPr sz="1600">
                <a:solidFill>
                  <a:srgbClr val="0B5F9F"/>
                </a:solidFill>
              </a:defRPr>
            </a:lvl2pPr>
            <a:lvl3pPr marL="1143000" indent="-228600">
              <a:buClr>
                <a:srgbClr val="5D5D5E"/>
              </a:buClr>
              <a:buSzPct val="80000"/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3pPr>
            <a:lvl4pPr marL="1600200" indent="-228600">
              <a:buClr>
                <a:srgbClr val="5D5D5E"/>
              </a:buClr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4pPr>
            <a:lvl5pPr marL="2057400" indent="-228600">
              <a:buClr>
                <a:srgbClr val="5D5D5E"/>
              </a:buClr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7"/>
          <p:cNvSpPr txBox="1">
            <a:spLocks/>
          </p:cNvSpPr>
          <p:nvPr userDrawn="1"/>
        </p:nvSpPr>
        <p:spPr>
          <a:xfrm>
            <a:off x="9331036" y="64148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F0582B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A354380D-7F75-478B-9CFE-D1FEE0999A32}" type="slidenum">
              <a:rPr lang="en-US" sz="1800" smtClean="0">
                <a:solidFill>
                  <a:srgbClr val="5D5D5E"/>
                </a:solidFill>
              </a:rPr>
              <a:pPr/>
              <a:t>‹#›</a:t>
            </a:fld>
            <a:endParaRPr lang="en-US" sz="1800" dirty="0">
              <a:solidFill>
                <a:srgbClr val="5D5D5E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7562B4-467D-4284-85DC-906011539C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47" y="92358"/>
            <a:ext cx="1049894" cy="104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363225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lish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 descr="A close up of a logo&#10;&#10;Description automatically generated">
            <a:extLst>
              <a:ext uri="{FF2B5EF4-FFF2-40B4-BE49-F238E27FC236}">
                <a16:creationId xmlns:a16="http://schemas.microsoft.com/office/drawing/2014/main" id="{4D5CEDC8-D355-48AF-B3A2-010EB511FDC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4ADB7EDB-E2AA-455A-BE1E-9F708B12B3D1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46151" y="578201"/>
            <a:ext cx="10299700" cy="730762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914400" y="1510748"/>
            <a:ext cx="5049078" cy="4984947"/>
          </a:xfrm>
        </p:spPr>
        <p:txBody>
          <a:bodyPr/>
          <a:lstStyle>
            <a:lvl1pPr>
              <a:defRPr sz="1600">
                <a:solidFill>
                  <a:srgbClr val="0B5F9F"/>
                </a:solidFill>
              </a:defRPr>
            </a:lvl1pPr>
            <a:lvl2pPr marL="742950" indent="-285750">
              <a:buClr>
                <a:srgbClr val="5D5D5E"/>
              </a:buClr>
              <a:buSzPct val="100000"/>
              <a:buFont typeface="Courier New" panose="02070309020205020404" pitchFamily="49" charset="0"/>
              <a:buChar char="o"/>
              <a:defRPr sz="1600">
                <a:solidFill>
                  <a:srgbClr val="0B5F9F"/>
                </a:solidFill>
              </a:defRPr>
            </a:lvl2pPr>
            <a:lvl3pPr marL="1143000" indent="-228600">
              <a:buClr>
                <a:srgbClr val="5D5D5E"/>
              </a:buClr>
              <a:buSzPct val="80000"/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3pPr>
            <a:lvl4pPr marL="1600200" indent="-228600">
              <a:buClr>
                <a:srgbClr val="5D5D5E"/>
              </a:buClr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4pPr>
            <a:lvl5pPr marL="2057400" indent="-228600">
              <a:buClr>
                <a:srgbClr val="5D5D5E"/>
              </a:buClr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9" name="Slide Number Placeholder 7"/>
          <p:cNvSpPr txBox="1">
            <a:spLocks/>
          </p:cNvSpPr>
          <p:nvPr userDrawn="1"/>
        </p:nvSpPr>
        <p:spPr>
          <a:xfrm>
            <a:off x="9331036" y="64148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F0582B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A354380D-7F75-478B-9CFE-D1FEE0999A32}" type="slidenum">
              <a:rPr lang="en-US" sz="1800" smtClean="0">
                <a:solidFill>
                  <a:srgbClr val="5D5D5E"/>
                </a:solidFill>
              </a:rPr>
              <a:pPr/>
              <a:t>‹#›</a:t>
            </a:fld>
            <a:endParaRPr lang="en-US" sz="1800" dirty="0">
              <a:solidFill>
                <a:srgbClr val="5D5D5E"/>
              </a:solidFill>
            </a:endParaRPr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727562B4-467D-4284-85DC-906011539CEB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47" y="92358"/>
            <a:ext cx="1049894" cy="1049894"/>
          </a:xfrm>
          <a:prstGeom prst="rect">
            <a:avLst/>
          </a:prstGeom>
        </p:spPr>
      </p:pic>
      <p:sp>
        <p:nvSpPr>
          <p:cNvPr id="10" name="Content Placeholder 2">
            <a:extLst>
              <a:ext uri="{FF2B5EF4-FFF2-40B4-BE49-F238E27FC236}">
                <a16:creationId xmlns:a16="http://schemas.microsoft.com/office/drawing/2014/main" id="{0501080D-9533-4847-A373-3FAEA84FA9D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6773" y="1510748"/>
            <a:ext cx="5049078" cy="4984947"/>
          </a:xfrm>
        </p:spPr>
        <p:txBody>
          <a:bodyPr/>
          <a:lstStyle>
            <a:lvl1pPr>
              <a:defRPr sz="1600">
                <a:solidFill>
                  <a:srgbClr val="0B5F9F"/>
                </a:solidFill>
              </a:defRPr>
            </a:lvl1pPr>
            <a:lvl2pPr marL="742950" indent="-285750">
              <a:buClr>
                <a:srgbClr val="5D5D5E"/>
              </a:buClr>
              <a:buSzPct val="100000"/>
              <a:buFont typeface="Courier New" panose="02070309020205020404" pitchFamily="49" charset="0"/>
              <a:buChar char="o"/>
              <a:defRPr sz="1600">
                <a:solidFill>
                  <a:srgbClr val="0B5F9F"/>
                </a:solidFill>
              </a:defRPr>
            </a:lvl2pPr>
            <a:lvl3pPr marL="1143000" indent="-228600">
              <a:buClr>
                <a:srgbClr val="5D5D5E"/>
              </a:buClr>
              <a:buSzPct val="80000"/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3pPr>
            <a:lvl4pPr marL="1600200" indent="-228600">
              <a:buClr>
                <a:srgbClr val="5D5D5E"/>
              </a:buClr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4pPr>
            <a:lvl5pPr marL="2057400" indent="-228600">
              <a:buClr>
                <a:srgbClr val="5D5D5E"/>
              </a:buClr>
              <a:buFont typeface="Arial" panose="020B0604020202020204" pitchFamily="34" charset="0"/>
              <a:buChar char="•"/>
              <a:defRPr sz="1600">
                <a:solidFill>
                  <a:srgbClr val="0B5F9F"/>
                </a:solidFill>
              </a:defRPr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4754501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abic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791C6C13-6EC7-42D1-879B-8DED3ED625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FF2A1A86-F26F-44AF-B5CF-A713A0247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914400" y="1508759"/>
            <a:ext cx="10363200" cy="4983480"/>
          </a:xfrm>
        </p:spPr>
        <p:txBody>
          <a:bodyPr/>
          <a:lstStyle>
            <a:lvl1pPr marL="342900" indent="-342900" algn="r" rtl="1">
              <a:buClr>
                <a:srgbClr val="5D5D5E"/>
              </a:buClr>
              <a:buFont typeface="Arial" panose="020B0604020202020204" pitchFamily="34" charset="0"/>
              <a:buChar char="•"/>
              <a:defRPr sz="2000"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algn="r" rtl="1">
              <a:buClr>
                <a:srgbClr val="5D5D5E"/>
              </a:buClr>
              <a:buSzPct val="100000"/>
              <a:buFont typeface="Courier New" panose="02070309020205020404" pitchFamily="49" charset="0"/>
              <a:buChar char="o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r" rtl="1">
              <a:buClr>
                <a:srgbClr val="5D5D5E"/>
              </a:buClr>
              <a:buSzPct val="80000"/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r" rtl="1">
              <a:buClr>
                <a:srgbClr val="5D5D5E"/>
              </a:buClr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r" rtl="1">
              <a:buClr>
                <a:srgbClr val="5D5D5E"/>
              </a:buClr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ar-EG" dirty="0"/>
              <a:t>اضغط لإضافة محتوى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946151" y="576072"/>
            <a:ext cx="10299700" cy="730763"/>
          </a:xfrm>
        </p:spPr>
        <p:txBody>
          <a:bodyPr/>
          <a:lstStyle>
            <a:lvl1pPr>
              <a:defRPr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EG" dirty="0"/>
              <a:t>عنوان الصفحة</a:t>
            </a:r>
            <a:endParaRPr lang="en-US" dirty="0"/>
          </a:p>
        </p:txBody>
      </p:sp>
      <p:sp>
        <p:nvSpPr>
          <p:cNvPr id="10" name="Slide Number Placeholder 7"/>
          <p:cNvSpPr txBox="1">
            <a:spLocks/>
          </p:cNvSpPr>
          <p:nvPr userDrawn="1"/>
        </p:nvSpPr>
        <p:spPr>
          <a:xfrm>
            <a:off x="9331036" y="64148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F0582B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A354380D-7F75-478B-9CFE-D1FEE0999A32}" type="slidenum">
              <a:rPr lang="en-US" sz="1800" smtClean="0">
                <a:solidFill>
                  <a:srgbClr val="5D5D5E"/>
                </a:solidFill>
              </a:rPr>
              <a:pPr/>
              <a:t>‹#›</a:t>
            </a:fld>
            <a:endParaRPr lang="en-US" sz="1800" dirty="0">
              <a:solidFill>
                <a:srgbClr val="5D5D5E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D274B8-C38E-4698-91BE-3E6A1C355EF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47" y="92358"/>
            <a:ext cx="1049894" cy="1049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2724693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abic Slide 2 column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Picture 8" descr="A close up of a logo&#10;&#10;Description automatically generated">
            <a:extLst>
              <a:ext uri="{FF2B5EF4-FFF2-40B4-BE49-F238E27FC236}">
                <a16:creationId xmlns:a16="http://schemas.microsoft.com/office/drawing/2014/main" id="{791C6C13-6EC7-42D1-879B-8DED3ED62513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13" name="Picture 12" descr="A close up of a logo&#10;&#10;Description automatically generated">
            <a:extLst>
              <a:ext uri="{FF2B5EF4-FFF2-40B4-BE49-F238E27FC236}">
                <a16:creationId xmlns:a16="http://schemas.microsoft.com/office/drawing/2014/main" id="{FF2A1A86-F26F-44AF-B5CF-A713A0247778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" name="Content Placeholder 2"/>
          <p:cNvSpPr>
            <a:spLocks noGrp="1"/>
          </p:cNvSpPr>
          <p:nvPr>
            <p:ph idx="1" hasCustomPrompt="1"/>
          </p:nvPr>
        </p:nvSpPr>
        <p:spPr>
          <a:xfrm>
            <a:off x="6198363" y="1508759"/>
            <a:ext cx="5047488" cy="4983480"/>
          </a:xfrm>
        </p:spPr>
        <p:txBody>
          <a:bodyPr/>
          <a:lstStyle>
            <a:lvl1pPr marL="342900" indent="-342900" algn="r" rtl="1">
              <a:buClr>
                <a:srgbClr val="5D5D5E"/>
              </a:buClr>
              <a:buFont typeface="Arial" panose="020B0604020202020204" pitchFamily="34" charset="0"/>
              <a:buChar char="•"/>
              <a:defRPr sz="2000"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algn="r" rtl="1">
              <a:buClr>
                <a:srgbClr val="5D5D5E"/>
              </a:buClr>
              <a:buSzPct val="100000"/>
              <a:buFont typeface="Courier New" panose="02070309020205020404" pitchFamily="49" charset="0"/>
              <a:buChar char="o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r" rtl="1">
              <a:buClr>
                <a:srgbClr val="5D5D5E"/>
              </a:buClr>
              <a:buSzPct val="80000"/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r" rtl="1">
              <a:buClr>
                <a:srgbClr val="5D5D5E"/>
              </a:buClr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r" rtl="1">
              <a:buClr>
                <a:srgbClr val="5D5D5E"/>
              </a:buClr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ar-EG" dirty="0"/>
              <a:t>اضغط لإضافة محتوى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8" name="Title 7"/>
          <p:cNvSpPr>
            <a:spLocks noGrp="1"/>
          </p:cNvSpPr>
          <p:nvPr>
            <p:ph type="title" hasCustomPrompt="1"/>
          </p:nvPr>
        </p:nvSpPr>
        <p:spPr>
          <a:xfrm>
            <a:off x="946151" y="576072"/>
            <a:ext cx="10299700" cy="730763"/>
          </a:xfrm>
        </p:spPr>
        <p:txBody>
          <a:bodyPr/>
          <a:lstStyle>
            <a:lvl1pPr>
              <a:defRPr i="0">
                <a:solidFill>
                  <a:schemeClr val="tx1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</a:lstStyle>
          <a:p>
            <a:r>
              <a:rPr lang="ar-EG" dirty="0"/>
              <a:t>عنوان الصفحة</a:t>
            </a:r>
            <a:endParaRPr lang="en-US" dirty="0"/>
          </a:p>
        </p:txBody>
      </p:sp>
      <p:sp>
        <p:nvSpPr>
          <p:cNvPr id="10" name="Slide Number Placeholder 7"/>
          <p:cNvSpPr txBox="1">
            <a:spLocks/>
          </p:cNvSpPr>
          <p:nvPr userDrawn="1"/>
        </p:nvSpPr>
        <p:spPr>
          <a:xfrm>
            <a:off x="9331036" y="641487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US"/>
            </a:defPPr>
            <a:lvl1pPr algn="r" rtl="0" fontAlgn="base">
              <a:spcBef>
                <a:spcPct val="0"/>
              </a:spcBef>
              <a:spcAft>
                <a:spcPct val="0"/>
              </a:spcAft>
              <a:defRPr sz="1800" kern="1200">
                <a:solidFill>
                  <a:srgbClr val="F0582B"/>
                </a:solidFill>
                <a:latin typeface="Calibri" panose="020F0502020204030204" pitchFamily="34" charset="0"/>
                <a:ea typeface="Arial Unicode MS" pitchFamily="34" charset="-128"/>
                <a:cs typeface="Calibri" panose="020F0502020204030204" pitchFamily="34" charset="0"/>
              </a:defRPr>
            </a:lvl1pPr>
            <a:lvl2pPr marL="4572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2pPr>
            <a:lvl3pPr marL="9144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3pPr>
            <a:lvl4pPr marL="13716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4pPr>
            <a:lvl5pPr marL="1828800" algn="l" rtl="0" fontAlgn="base">
              <a:spcBef>
                <a:spcPct val="0"/>
              </a:spcBef>
              <a:spcAft>
                <a:spcPct val="0"/>
              </a:spcAft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5pPr>
            <a:lvl6pPr marL="22860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6pPr>
            <a:lvl7pPr marL="27432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7pPr>
            <a:lvl8pPr marL="32004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8pPr>
            <a:lvl9pPr marL="3657600" algn="l" defTabSz="914400" rtl="0" eaLnBrk="1" latinLnBrk="0" hangingPunct="1">
              <a:defRPr sz="2400" kern="1200">
                <a:solidFill>
                  <a:schemeClr val="tx1"/>
                </a:solidFill>
                <a:latin typeface="Blackadder ITC" pitchFamily="82" charset="0"/>
                <a:ea typeface="Arial Unicode MS" pitchFamily="34" charset="-128"/>
                <a:cs typeface="Arial Unicode MS" pitchFamily="34" charset="-128"/>
              </a:defRPr>
            </a:lvl9pPr>
          </a:lstStyle>
          <a:p>
            <a:fld id="{A354380D-7F75-478B-9CFE-D1FEE0999A32}" type="slidenum">
              <a:rPr lang="en-US" sz="1800" smtClean="0">
                <a:solidFill>
                  <a:srgbClr val="5D5D5E"/>
                </a:solidFill>
              </a:rPr>
              <a:pPr/>
              <a:t>‹#›</a:t>
            </a:fld>
            <a:endParaRPr lang="en-US" sz="1800" dirty="0">
              <a:solidFill>
                <a:srgbClr val="5D5D5E"/>
              </a:solidFill>
            </a:endParaRP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34D274B8-C38E-4698-91BE-3E6A1C355EF8}"/>
              </a:ext>
            </a:extLst>
          </p:cNvPr>
          <p:cNvPicPr>
            <a:picLocks noChangeAspect="1"/>
          </p:cNvPicPr>
          <p:nvPr userDrawn="1"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5347" y="92358"/>
            <a:ext cx="1049894" cy="1049894"/>
          </a:xfrm>
          <a:prstGeom prst="rect">
            <a:avLst/>
          </a:prstGeom>
        </p:spPr>
      </p:pic>
      <p:sp>
        <p:nvSpPr>
          <p:cNvPr id="11" name="Content Placeholder 2">
            <a:extLst>
              <a:ext uri="{FF2B5EF4-FFF2-40B4-BE49-F238E27FC236}">
                <a16:creationId xmlns:a16="http://schemas.microsoft.com/office/drawing/2014/main" id="{6D30C39C-670C-47A1-ACD3-09F47D4AD122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946150" y="1508386"/>
            <a:ext cx="5047488" cy="4983480"/>
          </a:xfrm>
        </p:spPr>
        <p:txBody>
          <a:bodyPr/>
          <a:lstStyle>
            <a:lvl1pPr marL="342900" indent="-342900" algn="r" rtl="1">
              <a:buClr>
                <a:srgbClr val="5D5D5E"/>
              </a:buClr>
              <a:buFont typeface="Arial" panose="020B0604020202020204" pitchFamily="34" charset="0"/>
              <a:buChar char="•"/>
              <a:defRPr sz="2000"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1pPr>
            <a:lvl2pPr marL="742950" indent="-285750" algn="r" rtl="1">
              <a:buClr>
                <a:srgbClr val="5D5D5E"/>
              </a:buClr>
              <a:buSzPct val="100000"/>
              <a:buFont typeface="Courier New" panose="02070309020205020404" pitchFamily="49" charset="0"/>
              <a:buChar char="o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2pPr>
            <a:lvl3pPr marL="1143000" indent="-228600" algn="r" rtl="1">
              <a:buClr>
                <a:srgbClr val="5D5D5E"/>
              </a:buClr>
              <a:buSzPct val="80000"/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3pPr>
            <a:lvl4pPr marL="1600200" indent="-228600" algn="r" rtl="1">
              <a:buClr>
                <a:srgbClr val="5D5D5E"/>
              </a:buClr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4pPr>
            <a:lvl5pPr marL="2057400" indent="-228600" algn="r" rtl="1">
              <a:buClr>
                <a:srgbClr val="5D5D5E"/>
              </a:buClr>
              <a:buFont typeface="Arial" panose="020B0604020202020204" pitchFamily="34" charset="0"/>
              <a:buChar char="•"/>
              <a:defRPr>
                <a:solidFill>
                  <a:srgbClr val="0B5F9F"/>
                </a:solidFill>
                <a:latin typeface="Calibri" panose="020F0502020204030204" pitchFamily="34" charset="0"/>
                <a:cs typeface="Calibri" panose="020F0502020204030204" pitchFamily="34" charset="0"/>
              </a:defRPr>
            </a:lvl5pPr>
          </a:lstStyle>
          <a:p>
            <a:pPr lvl="0"/>
            <a:r>
              <a:rPr lang="ar-EG" dirty="0"/>
              <a:t>اضغط لإضافة محتوى</a:t>
            </a:r>
            <a:endParaRPr lang="en-US" dirty="0"/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41513950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nglish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 descr="A close up of a logo&#10;&#10;Description automatically generated">
            <a:extLst>
              <a:ext uri="{FF2B5EF4-FFF2-40B4-BE49-F238E27FC236}">
                <a16:creationId xmlns:a16="http://schemas.microsoft.com/office/drawing/2014/main" id="{72C92438-FA0E-4025-8FA0-3F3B0939B03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0FAA2F98-8D11-41C2-AE79-5BC474FE63B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6151" y="2852321"/>
            <a:ext cx="10299700" cy="730762"/>
          </a:xfrm>
        </p:spPr>
        <p:txBody>
          <a:bodyPr/>
          <a:lstStyle>
            <a:lvl1pPr>
              <a:defRPr lang="en-US" sz="3600" b="1" i="1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+mj-ea"/>
                <a:cs typeface="+mj-cs"/>
              </a:defRPr>
            </a:lvl1pPr>
          </a:lstStyle>
          <a:p>
            <a:r>
              <a:rPr lang="en-US" dirty="0"/>
              <a:t>Separator title</a:t>
            </a:r>
          </a:p>
        </p:txBody>
      </p:sp>
    </p:spTree>
    <p:extLst>
      <p:ext uri="{BB962C8B-B14F-4D97-AF65-F5344CB8AC3E}">
        <p14:creationId xmlns:p14="http://schemas.microsoft.com/office/powerpoint/2010/main" val="2119989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rabic Separato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 descr="A close up of a logo&#10;&#10;Description automatically generated">
            <a:extLst>
              <a:ext uri="{FF2B5EF4-FFF2-40B4-BE49-F238E27FC236}">
                <a16:creationId xmlns:a16="http://schemas.microsoft.com/office/drawing/2014/main" id="{3593EA09-A20A-4753-B550-784B61287521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pic>
        <p:nvPicPr>
          <p:cNvPr id="5" name="Picture 4" descr="A close up of a logo&#10;&#10;Description automatically generated">
            <a:extLst>
              <a:ext uri="{FF2B5EF4-FFF2-40B4-BE49-F238E27FC236}">
                <a16:creationId xmlns:a16="http://schemas.microsoft.com/office/drawing/2014/main" id="{06F86E52-18AC-4745-86F3-9D0E41F91473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946151" y="2852321"/>
            <a:ext cx="10299700" cy="730762"/>
          </a:xfrm>
        </p:spPr>
        <p:txBody>
          <a:bodyPr/>
          <a:lstStyle>
            <a:lvl1pPr rtl="1">
              <a:defRPr lang="en-US" sz="3600" b="1" i="0" noProof="0" dirty="0">
                <a:solidFill>
                  <a:schemeClr val="tx1"/>
                </a:solidFill>
                <a:effectLst>
                  <a:outerShdw blurRad="38100" dist="38100" dir="2700000" algn="tl">
                    <a:srgbClr val="C0C0C0"/>
                  </a:outerShdw>
                </a:effectLst>
                <a:latin typeface="Calibri" panose="020F0502020204030204" pitchFamily="34" charset="0"/>
                <a:ea typeface="+mj-ea"/>
                <a:cs typeface="Calibri" panose="020F0502020204030204" pitchFamily="34" charset="0"/>
              </a:defRPr>
            </a:lvl1pPr>
          </a:lstStyle>
          <a:p>
            <a:r>
              <a:rPr lang="ar-EG" dirty="0"/>
              <a:t> عنوان الفاصل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976364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33" name="Rectangle 905"/>
          <p:cNvSpPr>
            <a:spLocks noGrp="1" noChangeArrowheads="1"/>
          </p:cNvSpPr>
          <p:nvPr>
            <p:ph type="title"/>
          </p:nvPr>
        </p:nvSpPr>
        <p:spPr bwMode="auto">
          <a:xfrm>
            <a:off x="946151" y="943501"/>
            <a:ext cx="10299700" cy="7762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title style</a:t>
            </a:r>
          </a:p>
        </p:txBody>
      </p:sp>
      <p:sp>
        <p:nvSpPr>
          <p:cNvPr id="23434" name="Rectangle 906"/>
          <p:cNvSpPr>
            <a:spLocks noGrp="1" noChangeArrowheads="1"/>
          </p:cNvSpPr>
          <p:nvPr>
            <p:ph type="body" idx="1"/>
          </p:nvPr>
        </p:nvSpPr>
        <p:spPr bwMode="auto">
          <a:xfrm>
            <a:off x="914400" y="1855286"/>
            <a:ext cx="10363200" cy="4640409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8" r:id="rId2"/>
    <p:sldLayoutId id="2147483652" r:id="rId3"/>
    <p:sldLayoutId id="2147483659" r:id="rId4"/>
    <p:sldLayoutId id="2147483656" r:id="rId5"/>
    <p:sldLayoutId id="2147483660" r:id="rId6"/>
    <p:sldLayoutId id="2147483654" r:id="rId7"/>
    <p:sldLayoutId id="2147483657" r:id="rId8"/>
  </p:sldLayoutIdLst>
  <p:hf sldNum="0" hdr="0" ftr="0" dt="0"/>
  <p:txStyles>
    <p:titleStyle>
      <a:lvl1pPr algn="ctr" rtl="0" fontAlgn="base">
        <a:spcBef>
          <a:spcPct val="0"/>
        </a:spcBef>
        <a:spcAft>
          <a:spcPct val="0"/>
        </a:spcAft>
        <a:defRPr sz="2800" b="1" i="1">
          <a:solidFill>
            <a:srgbClr val="5D5D5E"/>
          </a:solidFill>
          <a:latin typeface="Calibri" panose="020F0502020204030204" pitchFamily="34" charset="0"/>
          <a:ea typeface="+mj-ea"/>
          <a:cs typeface="+mj-cs"/>
        </a:defRPr>
      </a:lvl1pPr>
      <a:lvl2pPr algn="ctr" rtl="0" fontAlgn="base">
        <a:spcBef>
          <a:spcPct val="0"/>
        </a:spcBef>
        <a:spcAft>
          <a:spcPct val="0"/>
        </a:spcAft>
        <a:defRPr sz="2800" b="1" i="1">
          <a:solidFill>
            <a:schemeClr val="tx2"/>
          </a:solidFill>
          <a:latin typeface="Times New Roman" pitchFamily="18" charset="0"/>
        </a:defRPr>
      </a:lvl2pPr>
      <a:lvl3pPr algn="ctr" rtl="0" fontAlgn="base">
        <a:spcBef>
          <a:spcPct val="0"/>
        </a:spcBef>
        <a:spcAft>
          <a:spcPct val="0"/>
        </a:spcAft>
        <a:defRPr sz="2800" b="1" i="1">
          <a:solidFill>
            <a:schemeClr val="tx2"/>
          </a:solidFill>
          <a:latin typeface="Times New Roman" pitchFamily="18" charset="0"/>
        </a:defRPr>
      </a:lvl3pPr>
      <a:lvl4pPr algn="ctr" rtl="0" fontAlgn="base">
        <a:spcBef>
          <a:spcPct val="0"/>
        </a:spcBef>
        <a:spcAft>
          <a:spcPct val="0"/>
        </a:spcAft>
        <a:defRPr sz="2800" b="1" i="1">
          <a:solidFill>
            <a:schemeClr val="tx2"/>
          </a:solidFill>
          <a:latin typeface="Times New Roman" pitchFamily="18" charset="0"/>
        </a:defRPr>
      </a:lvl4pPr>
      <a:lvl5pPr algn="ctr" rtl="0" fontAlgn="base">
        <a:spcBef>
          <a:spcPct val="0"/>
        </a:spcBef>
        <a:spcAft>
          <a:spcPct val="0"/>
        </a:spcAft>
        <a:defRPr sz="2800" b="1" i="1">
          <a:solidFill>
            <a:schemeClr val="tx2"/>
          </a:solidFill>
          <a:latin typeface="Times New Roman" pitchFamily="18" charset="0"/>
        </a:defRPr>
      </a:lvl5pPr>
      <a:lvl6pPr marL="457200" algn="ctr" rtl="0" fontAlgn="base">
        <a:spcBef>
          <a:spcPct val="0"/>
        </a:spcBef>
        <a:spcAft>
          <a:spcPct val="0"/>
        </a:spcAft>
        <a:defRPr sz="2800" b="1" i="1">
          <a:solidFill>
            <a:schemeClr val="tx2"/>
          </a:solidFill>
          <a:latin typeface="Times New Roman" pitchFamily="18" charset="0"/>
        </a:defRPr>
      </a:lvl6pPr>
      <a:lvl7pPr marL="914400" algn="ctr" rtl="0" fontAlgn="base">
        <a:spcBef>
          <a:spcPct val="0"/>
        </a:spcBef>
        <a:spcAft>
          <a:spcPct val="0"/>
        </a:spcAft>
        <a:defRPr sz="2800" b="1" i="1">
          <a:solidFill>
            <a:schemeClr val="tx2"/>
          </a:solidFill>
          <a:latin typeface="Times New Roman" pitchFamily="18" charset="0"/>
        </a:defRPr>
      </a:lvl7pPr>
      <a:lvl8pPr marL="1371600" algn="ctr" rtl="0" fontAlgn="base">
        <a:spcBef>
          <a:spcPct val="0"/>
        </a:spcBef>
        <a:spcAft>
          <a:spcPct val="0"/>
        </a:spcAft>
        <a:defRPr sz="2800" b="1" i="1">
          <a:solidFill>
            <a:schemeClr val="tx2"/>
          </a:solidFill>
          <a:latin typeface="Times New Roman" pitchFamily="18" charset="0"/>
        </a:defRPr>
      </a:lvl8pPr>
      <a:lvl9pPr marL="1828800" algn="ctr" rtl="0" fontAlgn="base">
        <a:spcBef>
          <a:spcPct val="0"/>
        </a:spcBef>
        <a:spcAft>
          <a:spcPct val="0"/>
        </a:spcAft>
        <a:defRPr sz="2800" b="1" i="1">
          <a:solidFill>
            <a:schemeClr val="tx2"/>
          </a:solidFill>
          <a:latin typeface="Times New Roman" pitchFamily="18" charset="0"/>
        </a:defRPr>
      </a:lvl9pPr>
    </p:titleStyle>
    <p:bodyStyle>
      <a:lvl1pPr marL="0" indent="0" algn="l" rtl="0" fontAlgn="base">
        <a:spcBef>
          <a:spcPct val="20000"/>
        </a:spcBef>
        <a:spcAft>
          <a:spcPct val="0"/>
        </a:spcAft>
        <a:buClr>
          <a:srgbClr val="5D5D5E"/>
        </a:buClr>
        <a:buFont typeface="Arial" panose="020B0604020202020204" pitchFamily="34" charset="0"/>
        <a:buNone/>
        <a:defRPr sz="1600" b="1">
          <a:solidFill>
            <a:srgbClr val="0B5F9F"/>
          </a:solidFill>
          <a:latin typeface="Calibri" panose="020F0502020204030204" pitchFamily="34" charset="0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lr>
          <a:srgbClr val="5D5D5E"/>
        </a:buClr>
        <a:buFont typeface="Arial" panose="020B0604020202020204" pitchFamily="34" charset="0"/>
        <a:buChar char="•"/>
        <a:defRPr sz="1600" b="1">
          <a:solidFill>
            <a:srgbClr val="0B5F9F"/>
          </a:solidFill>
          <a:latin typeface="Calibri" panose="020F0502020204030204" pitchFamily="34" charset="0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lr>
          <a:srgbClr val="5D5D5E"/>
        </a:buClr>
        <a:buFont typeface="Arial" panose="020B0604020202020204" pitchFamily="34" charset="0"/>
        <a:buChar char="•"/>
        <a:defRPr sz="1600" b="1">
          <a:solidFill>
            <a:srgbClr val="0B5F9F"/>
          </a:solidFill>
          <a:latin typeface="Calibri" panose="020F0502020204030204" pitchFamily="34" charset="0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lr>
          <a:srgbClr val="5D5D5E"/>
        </a:buClr>
        <a:buFont typeface="Arial" panose="020B0604020202020204" pitchFamily="34" charset="0"/>
        <a:buChar char="•"/>
        <a:defRPr sz="1600" b="1">
          <a:solidFill>
            <a:srgbClr val="0B5F9F"/>
          </a:solidFill>
          <a:latin typeface="Calibri" panose="020F0502020204030204" pitchFamily="34" charset="0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lr>
          <a:srgbClr val="5D5D5E"/>
        </a:buClr>
        <a:buFont typeface="Arial" panose="020B0604020202020204" pitchFamily="34" charset="0"/>
        <a:buChar char="•"/>
        <a:defRPr sz="1600" b="1">
          <a:solidFill>
            <a:srgbClr val="0B5F9F"/>
          </a:solidFill>
          <a:latin typeface="Calibri" panose="020F0502020204030204" pitchFamily="34" charset="0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b="1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13" Type="http://schemas.openxmlformats.org/officeDocument/2006/relationships/image" Target="../media/image15.png"/><Relationship Id="rId3" Type="http://schemas.openxmlformats.org/officeDocument/2006/relationships/tags" Target="../tags/tag3.xml"/><Relationship Id="rId7" Type="http://schemas.openxmlformats.org/officeDocument/2006/relationships/slideLayout" Target="../slideLayouts/slideLayout3.xml"/><Relationship Id="rId12" Type="http://schemas.openxmlformats.org/officeDocument/2006/relationships/image" Target="../media/image14.png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1" Type="http://schemas.openxmlformats.org/officeDocument/2006/relationships/image" Target="../media/image13.png"/><Relationship Id="rId5" Type="http://schemas.openxmlformats.org/officeDocument/2006/relationships/tags" Target="../tags/tag5.xml"/><Relationship Id="rId10" Type="http://schemas.openxmlformats.org/officeDocument/2006/relationships/image" Target="../media/image12.png"/><Relationship Id="rId4" Type="http://schemas.openxmlformats.org/officeDocument/2006/relationships/tags" Target="../tags/tag4.xml"/><Relationship Id="rId9" Type="http://schemas.openxmlformats.org/officeDocument/2006/relationships/image" Target="../media/image11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tags" Target="../tags/tag9.xml"/><Relationship Id="rId7" Type="http://schemas.openxmlformats.org/officeDocument/2006/relationships/image" Target="../media/image18.png"/><Relationship Id="rId2" Type="http://schemas.openxmlformats.org/officeDocument/2006/relationships/tags" Target="../tags/tag8.xml"/><Relationship Id="rId1" Type="http://schemas.openxmlformats.org/officeDocument/2006/relationships/tags" Target="../tags/tag7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6.jpg"/><Relationship Id="rId1" Type="http://schemas.openxmlformats.org/officeDocument/2006/relationships/slideLayout" Target="../slideLayouts/slideLayout4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4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jpeg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4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3.png"/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PRNet</a:t>
            </a:r>
            <a:r>
              <a:rPr lang="en-US" dirty="0"/>
              <a:t>: PAPR Reduction via Deep Autoencoder</a:t>
            </a:r>
          </a:p>
        </p:txBody>
      </p:sp>
    </p:spTree>
    <p:extLst>
      <p:ext uri="{BB962C8B-B14F-4D97-AF65-F5344CB8AC3E}">
        <p14:creationId xmlns:p14="http://schemas.microsoft.com/office/powerpoint/2010/main" val="369981172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The Autoencoder Paradigm Shift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Content Placeholder 4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Introduced by Kim et al., </a:t>
                </a:r>
                <a:r>
                  <a:rPr lang="en-US" dirty="0" err="1"/>
                  <a:t>PRNet</a:t>
                </a:r>
                <a:r>
                  <a:rPr lang="en-US" dirty="0"/>
                  <a:t> is the first deep learning‐based system for joint PAPR and BER optimization. It treats the entire transceiver chain as a single deep autoencoder:</a:t>
                </a:r>
              </a:p>
              <a:p>
                <a:pPr lvl="1"/>
                <a:r>
                  <a:rPr lang="en-US" dirty="0"/>
                  <a:t>Encoder 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Neural Network Transmitter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Decoder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Neural Network Receiver</a:t>
                </a:r>
              </a:p>
              <a:p>
                <a:pPr lvl="1"/>
                <a:r>
                  <a:rPr lang="en-US" dirty="0">
                    <a:sym typeface="Wingdings" panose="05000000000000000000" pitchFamily="2" charset="2"/>
                  </a:rPr>
                  <a:t>Bottleneck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>
                    <a:sym typeface="Wingdings" panose="05000000000000000000" pitchFamily="2" charset="2"/>
                  </a:rPr>
                  <a:t> Noisy wireless channel</a:t>
                </a:r>
              </a:p>
              <a:p>
                <a:pPr lvl="1"/>
                <a:endParaRPr lang="en-US" dirty="0"/>
              </a:p>
              <a:p>
                <a:r>
                  <a:rPr lang="en-US" dirty="0"/>
                  <a:t>Both the transmitter and receiver are jointly trained, allowing the network to:</a:t>
                </a:r>
              </a:p>
              <a:p>
                <a:pPr lvl="1"/>
                <a:r>
                  <a:rPr lang="en-US" dirty="0"/>
                  <a:t>Learn a custom, data‐dependent constellation mapping that jointly minimizes BER and PAPR.</a:t>
                </a:r>
              </a:p>
              <a:p>
                <a:pPr lvl="1"/>
                <a:r>
                  <a:rPr lang="en-US" dirty="0"/>
                  <a:t>Eliminate side information (SI) overhead entirely — the decoder implicitly learns the encoder’s mapping.</a:t>
                </a:r>
              </a:p>
              <a:p>
                <a:pPr lvl="1"/>
                <a:r>
                  <a:rPr lang="en-US" dirty="0"/>
                  <a:t>Bypass the exponential search spaces of classical methods (e.g. PTS).</a:t>
                </a:r>
                <a:endParaRPr lang="en-US" dirty="0">
                  <a:sym typeface="Wingdings" panose="05000000000000000000" pitchFamily="2" charset="2"/>
                </a:endParaRPr>
              </a:p>
            </p:txBody>
          </p:sp>
        </mc:Choice>
        <mc:Fallback xmlns="">
          <p:sp>
            <p:nvSpPr>
              <p:cNvPr id="5" name="Content Placeholder 4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4" t="-367" r="-17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9957398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FBC083-E0CD-7A3B-84B8-2C51AC960E0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PRNet</a:t>
            </a:r>
            <a:r>
              <a:rPr lang="en-US" dirty="0"/>
              <a:t> Transceiver Architecture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4104C8-FF1C-6573-F54E-5F5B6544387F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46151" y="4310062"/>
                <a:ext cx="5149849" cy="2185633"/>
              </a:xfrm>
            </p:spPr>
            <p:txBody>
              <a:bodyPr/>
              <a:lstStyle/>
              <a:p>
                <a:r>
                  <a:rPr lang="en-US" dirty="0"/>
                  <a:t>End-to-End Neural Network:</a:t>
                </a:r>
              </a:p>
              <a:p>
                <a:pPr lvl="1"/>
                <a:r>
                  <a:rPr lang="en-US" dirty="0"/>
                  <a:t>Standard modulation and demodulation are completely replaced by a DNN Encoder and DNN Decoder.</a:t>
                </a:r>
              </a:p>
              <a:p>
                <a:pPr lvl="1"/>
                <a:r>
                  <a:rPr lang="en-US" dirty="0"/>
                  <a:t>Structure: Input layer (128 nodes)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lang="en-US" dirty="0"/>
                  <a:t> 5 hidden layers (2048 nodes each)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→ </m:t>
                    </m:r>
                  </m:oMath>
                </a14:m>
                <a:r>
                  <a:rPr lang="en-US" dirty="0"/>
                  <a:t> Output layer (128 nodes).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344104C8-FF1C-6573-F54E-5F5B6544387F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46151" y="4310062"/>
                <a:ext cx="5149849" cy="2185633"/>
              </a:xfrm>
              <a:blipFill>
                <a:blip r:embed="rId2"/>
                <a:stretch>
                  <a:fillRect l="-592" t="-836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0D858922-EEBC-6AD6-C097-127CA7FCEFD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985170" y="1551850"/>
            <a:ext cx="8221657" cy="2510507"/>
          </a:xfrm>
          <a:prstGeom prst="rect">
            <a:avLst/>
          </a:prstGeom>
        </p:spPr>
      </p:pic>
      <p:sp>
        <p:nvSpPr>
          <p:cNvPr id="7" name="Content Placeholder 2">
            <a:extLst>
              <a:ext uri="{FF2B5EF4-FFF2-40B4-BE49-F238E27FC236}">
                <a16:creationId xmlns:a16="http://schemas.microsoft.com/office/drawing/2014/main" id="{3A4B734C-2876-EA1F-F198-2CE5117166C1}"/>
              </a:ext>
            </a:extLst>
          </p:cNvPr>
          <p:cNvSpPr txBox="1">
            <a:spLocks/>
          </p:cNvSpPr>
          <p:nvPr/>
        </p:nvSpPr>
        <p:spPr bwMode="auto">
          <a:xfrm>
            <a:off x="6095999" y="4310062"/>
            <a:ext cx="5149849" cy="218563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marL="0" indent="0" algn="l" rtl="0" fontAlgn="base">
              <a:spcBef>
                <a:spcPct val="20000"/>
              </a:spcBef>
              <a:spcAft>
                <a:spcPct val="0"/>
              </a:spcAft>
              <a:buClr>
                <a:srgbClr val="5D5D5E"/>
              </a:buClr>
              <a:buFont typeface="Arial" panose="020B0604020202020204" pitchFamily="34" charset="0"/>
              <a:buNone/>
              <a:defRPr sz="1600" b="1">
                <a:solidFill>
                  <a:srgbClr val="0B5F9F"/>
                </a:solidFill>
                <a:latin typeface="Calibri" panose="020F0502020204030204" pitchFamily="34" charset="0"/>
                <a:ea typeface="+mn-ea"/>
                <a:cs typeface="+mn-cs"/>
              </a:defRPr>
            </a:lvl1pPr>
            <a:lvl2pPr marL="742950" indent="-285750" algn="l" rtl="0" fontAlgn="base">
              <a:spcBef>
                <a:spcPct val="20000"/>
              </a:spcBef>
              <a:spcAft>
                <a:spcPct val="0"/>
              </a:spcAft>
              <a:buClr>
                <a:srgbClr val="5D5D5E"/>
              </a:buClr>
              <a:buSzPct val="100000"/>
              <a:buFont typeface="Courier New" panose="02070309020205020404" pitchFamily="49" charset="0"/>
              <a:buChar char="o"/>
              <a:defRPr sz="1600" b="1">
                <a:solidFill>
                  <a:srgbClr val="0B5F9F"/>
                </a:solidFill>
                <a:latin typeface="Calibri" panose="020F0502020204030204" pitchFamily="34" charset="0"/>
              </a:defRPr>
            </a:lvl2pPr>
            <a:lvl3pPr marL="11430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5D5D5E"/>
              </a:buClr>
              <a:buSzPct val="80000"/>
              <a:buFont typeface="Arial" panose="020B0604020202020204" pitchFamily="34" charset="0"/>
              <a:buChar char="•"/>
              <a:defRPr sz="1600" b="1">
                <a:solidFill>
                  <a:srgbClr val="0B5F9F"/>
                </a:solidFill>
                <a:latin typeface="Calibri" panose="020F0502020204030204" pitchFamily="34" charset="0"/>
              </a:defRPr>
            </a:lvl3pPr>
            <a:lvl4pPr marL="16002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5D5D5E"/>
              </a:buClr>
              <a:buFont typeface="Arial" panose="020B0604020202020204" pitchFamily="34" charset="0"/>
              <a:buChar char="•"/>
              <a:defRPr sz="1600" b="1">
                <a:solidFill>
                  <a:srgbClr val="0B5F9F"/>
                </a:solidFill>
                <a:latin typeface="Calibri" panose="020F0502020204030204" pitchFamily="34" charset="0"/>
              </a:defRPr>
            </a:lvl4pPr>
            <a:lvl5pPr marL="2057400" indent="-228600" algn="l" rtl="0" fontAlgn="base">
              <a:spcBef>
                <a:spcPct val="20000"/>
              </a:spcBef>
              <a:spcAft>
                <a:spcPct val="0"/>
              </a:spcAft>
              <a:buClr>
                <a:srgbClr val="5D5D5E"/>
              </a:buClr>
              <a:buFont typeface="Arial" panose="020B0604020202020204" pitchFamily="34" charset="0"/>
              <a:buChar char="•"/>
              <a:defRPr sz="1600" b="1">
                <a:solidFill>
                  <a:srgbClr val="0B5F9F"/>
                </a:solidFill>
                <a:latin typeface="Calibri" panose="020F0502020204030204" pitchFamily="34" charset="0"/>
              </a:defRPr>
            </a:lvl5pPr>
            <a:lvl6pPr marL="25146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</a:defRPr>
            </a:lvl6pPr>
            <a:lvl7pPr marL="29718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</a:defRPr>
            </a:lvl7pPr>
            <a:lvl8pPr marL="34290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</a:defRPr>
            </a:lvl8pPr>
            <a:lvl9pPr marL="3886200" indent="-228600" algn="l" rtl="0" fontAlgn="base">
              <a:spcBef>
                <a:spcPct val="20000"/>
              </a:spcBef>
              <a:spcAft>
                <a:spcPct val="0"/>
              </a:spcAft>
              <a:buChar char="»"/>
              <a:defRPr b="1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US" kern="0" dirty="0"/>
              <a:t>Inside each hidden layer block:</a:t>
            </a:r>
          </a:p>
          <a:p>
            <a:pPr lvl="1"/>
            <a:r>
              <a:rPr lang="en-US" kern="0" dirty="0"/>
              <a:t>Fully Connected (FC): Links all data to process subcarriers jointly.</a:t>
            </a:r>
          </a:p>
          <a:p>
            <a:pPr lvl="1"/>
            <a:r>
              <a:rPr lang="en-US" kern="0" dirty="0"/>
              <a:t>Batch Normalization (BN): Scales data to ensure stable and reliable training.</a:t>
            </a:r>
          </a:p>
          <a:p>
            <a:pPr lvl="1"/>
            <a:r>
              <a:rPr lang="en-US" kern="0" dirty="0" err="1"/>
              <a:t>ReLU</a:t>
            </a:r>
            <a:r>
              <a:rPr lang="en-US" kern="0" dirty="0"/>
              <a:t> Activation: Introduces the non-linearity required to solve the highly complex trade-off between PAPR and BER</a:t>
            </a:r>
          </a:p>
        </p:txBody>
      </p:sp>
    </p:spTree>
    <p:extLst>
      <p:ext uri="{BB962C8B-B14F-4D97-AF65-F5344CB8AC3E}">
        <p14:creationId xmlns:p14="http://schemas.microsoft.com/office/powerpoint/2010/main" val="22106886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F8DA66-5271-348E-8269-E856471542C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End-to-End System Model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980CFA-2DB2-5C6A-5D99-C3FF53DA33C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342900" indent="-342900">
              <a:buFont typeface="+mj-lt"/>
              <a:buAutoNum type="arabicPeriod"/>
            </a:pPr>
            <a:r>
              <a:rPr lang="en-US" dirty="0"/>
              <a:t>Input Representation: Real I/Q vector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DNN Encoder: parameterized by weights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OFDM Mod &amp; Channel: IFFT, then Rayleigh fading &amp; AWGN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150000"/>
              </a:lnSpc>
              <a:buFont typeface="+mj-lt"/>
              <a:buAutoNum type="arabicPeriod"/>
            </a:pPr>
            <a:r>
              <a:rPr lang="en-US" dirty="0"/>
              <a:t>Demodulation &amp; Equalization: FFT to frequency domain, zero-forcing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lnSpc>
                <a:spcPct val="250000"/>
              </a:lnSpc>
              <a:buFont typeface="+mj-lt"/>
              <a:buAutoNum type="arabicPeriod"/>
            </a:pPr>
            <a:r>
              <a:rPr lang="en-US" dirty="0"/>
              <a:t>DNN Decoder: parameterized by weights</a:t>
            </a:r>
          </a:p>
          <a:p>
            <a:pPr marL="342900" indent="-342900">
              <a:buFont typeface="+mj-lt"/>
              <a:buAutoNum type="arabicPeriod"/>
            </a:pPr>
            <a:endParaRPr lang="en-US" dirty="0"/>
          </a:p>
          <a:p>
            <a:pPr marL="342900" indent="-342900">
              <a:buFont typeface="+mj-lt"/>
              <a:buAutoNum type="arabicPeriod"/>
            </a:pPr>
            <a:r>
              <a:rPr lang="en-US" dirty="0"/>
              <a:t>The Complete End-to-End Pipeline</a:t>
            </a:r>
          </a:p>
        </p:txBody>
      </p:sp>
      <p:pic>
        <p:nvPicPr>
          <p:cNvPr id="46" name="Picture 45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bf{r} = [I_0, Q_0, \dots, I_{N-1}, Q_{N-1}]^T \in \mathbb{R}^{2N}&#10;\]&#10;&#10;\end{document}" title="IguanaTex Picture Display">
            <a:extLst>
              <a:ext uri="{FF2B5EF4-FFF2-40B4-BE49-F238E27FC236}">
                <a16:creationId xmlns:a16="http://schemas.microsoft.com/office/drawing/2014/main" id="{D9FE7166-BD1E-A46E-AA1C-214561DE6A4B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76495" y="1845799"/>
            <a:ext cx="3239009" cy="231619"/>
          </a:xfrm>
          <a:prstGeom prst="rect">
            <a:avLst/>
          </a:prstGeom>
        </p:spPr>
      </p:pic>
      <p:pic>
        <p:nvPicPr>
          <p:cNvPr id="48" name="Picture 47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bf{X} = f(\mathbf{r}; \theta_f) \in \mathbb{C}^N&#10;\]&#10;&#10;\end{document}" title="IguanaTex Picture Display">
            <a:extLst>
              <a:ext uri="{FF2B5EF4-FFF2-40B4-BE49-F238E27FC236}">
                <a16:creationId xmlns:a16="http://schemas.microsoft.com/office/drawing/2014/main" id="{1EEF4253-037C-228D-8A4C-922192D0A4F7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9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79237" y="2404001"/>
            <a:ext cx="1633524" cy="240152"/>
          </a:xfrm>
          <a:prstGeom prst="rect">
            <a:avLst/>
          </a:prstGeom>
        </p:spPr>
      </p:pic>
      <p:pic>
        <p:nvPicPr>
          <p:cNvPr id="50" name="Picture 49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y[n] = \mathbb{H}(\text{IFFT}(\mathbf{X}))&#10;\]&#10;&#10;\end{document}" title="IguanaTex Picture Display">
            <a:extLst>
              <a:ext uri="{FF2B5EF4-FFF2-40B4-BE49-F238E27FC236}">
                <a16:creationId xmlns:a16="http://schemas.microsoft.com/office/drawing/2014/main" id="{25F5F413-E8A8-FC4C-A3B9-6371F7FCB023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10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37180" y="3110701"/>
            <a:ext cx="1717638" cy="203581"/>
          </a:xfrm>
          <a:prstGeom prst="rect">
            <a:avLst/>
          </a:prstGeom>
        </p:spPr>
      </p:pic>
      <p:pic>
        <p:nvPicPr>
          <p:cNvPr id="52" name="Picture 51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hat{Y}_k = X_k + \frac{E_k}{H_k}&#10;\]&#10;&#10;\end{document}" title="IguanaTex Picture Display">
            <a:extLst>
              <a:ext uri="{FF2B5EF4-FFF2-40B4-BE49-F238E27FC236}">
                <a16:creationId xmlns:a16="http://schemas.microsoft.com/office/drawing/2014/main" id="{FC7A07BF-4B23-26B8-8F90-125634111734}"/>
              </a:ext>
            </a:extLst>
          </p:cNvPr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51729" y="3771594"/>
            <a:ext cx="1288533" cy="444952"/>
          </a:xfrm>
          <a:prstGeom prst="rect">
            <a:avLst/>
          </a:prstGeom>
        </p:spPr>
      </p:pic>
      <p:pic>
        <p:nvPicPr>
          <p:cNvPr id="54" name="Picture 53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hat{\mathbf{r}} = g(\hat{\mathbf{Y}}; \theta_g) \in \mathbb{R}^{2N}&#10;\]&#10;&#10;\end{document}" title="IguanaTex Picture Display">
            <a:extLst>
              <a:ext uri="{FF2B5EF4-FFF2-40B4-BE49-F238E27FC236}">
                <a16:creationId xmlns:a16="http://schemas.microsoft.com/office/drawing/2014/main" id="{D36CFFD6-74A0-5432-3254-39E2C55A6BE0}"/>
              </a:ext>
            </a:extLst>
          </p:cNvPr>
          <p:cNvPicPr>
            <a:picLocks noChangeAspect="1"/>
          </p:cNvPicPr>
          <p:nvPr>
            <p:custDataLst>
              <p:tags r:id="rId5"/>
            </p:custDataLst>
          </p:nvPr>
        </p:nvPicPr>
        <p:blipFill>
          <a:blip r:embed="rId1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0588" y="4653864"/>
            <a:ext cx="1690819" cy="251124"/>
          </a:xfrm>
          <a:prstGeom prst="rect">
            <a:avLst/>
          </a:prstGeom>
        </p:spPr>
      </p:pic>
      <p:pic>
        <p:nvPicPr>
          <p:cNvPr id="5" name="Picture 4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hat{\bm{r}} = g\bigl(\mathrm{FFT}(\mathbb{H} \circ \mathrm{IFFT}(f(\bm{r}; \theta_f)) + \epsilon); \theta_g\bigr)&#10;\]&#10;&#10;\end{document}" title="IguanaTex Picture Display">
            <a:extLst>
              <a:ext uri="{FF2B5EF4-FFF2-40B4-BE49-F238E27FC236}">
                <a16:creationId xmlns:a16="http://schemas.microsoft.com/office/drawing/2014/main" id="{DE90C201-A78D-3A19-5540-B687D36EC981}"/>
              </a:ext>
            </a:extLst>
          </p:cNvPr>
          <p:cNvPicPr>
            <a:picLocks noChangeAspect="1"/>
          </p:cNvPicPr>
          <p:nvPr>
            <p:custDataLst>
              <p:tags r:id="rId6"/>
            </p:custDataLst>
          </p:nvPr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4585" y="5313537"/>
            <a:ext cx="3482820" cy="242591"/>
          </a:xfrm>
          <a:prstGeom prst="rect">
            <a:avLst/>
          </a:prstGeom>
        </p:spPr>
      </p:pic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BD2FBD9C-C1D3-CAD4-7B0F-302F50C175E9}"/>
              </a:ext>
            </a:extLst>
          </p:cNvPr>
          <p:cNvCxnSpPr>
            <a:cxnSpLocks/>
          </p:cNvCxnSpPr>
          <p:nvPr/>
        </p:nvCxnSpPr>
        <p:spPr bwMode="auto">
          <a:xfrm>
            <a:off x="6317479" y="5593874"/>
            <a:ext cx="714917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4FD62818-5823-78B5-BCB6-77FEBDDFF2DD}"/>
              </a:ext>
            </a:extLst>
          </p:cNvPr>
          <p:cNvCxnSpPr>
            <a:cxnSpLocks/>
          </p:cNvCxnSpPr>
          <p:nvPr/>
        </p:nvCxnSpPr>
        <p:spPr bwMode="auto">
          <a:xfrm>
            <a:off x="5759778" y="5593874"/>
            <a:ext cx="557701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17" name="Straight Connector 16">
            <a:extLst>
              <a:ext uri="{FF2B5EF4-FFF2-40B4-BE49-F238E27FC236}">
                <a16:creationId xmlns:a16="http://schemas.microsoft.com/office/drawing/2014/main" id="{94720D3F-A861-66D1-1473-4C614D95BFAE}"/>
              </a:ext>
            </a:extLst>
          </p:cNvPr>
          <p:cNvCxnSpPr>
            <a:cxnSpLocks/>
          </p:cNvCxnSpPr>
          <p:nvPr/>
        </p:nvCxnSpPr>
        <p:spPr bwMode="auto">
          <a:xfrm>
            <a:off x="7032396" y="5593874"/>
            <a:ext cx="433633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0" name="Straight Connector 19">
            <a:extLst>
              <a:ext uri="{FF2B5EF4-FFF2-40B4-BE49-F238E27FC236}">
                <a16:creationId xmlns:a16="http://schemas.microsoft.com/office/drawing/2014/main" id="{CCC7A2D5-8BE7-80A7-2DA3-C22243A7E312}"/>
              </a:ext>
            </a:extLst>
          </p:cNvPr>
          <p:cNvCxnSpPr>
            <a:cxnSpLocks/>
          </p:cNvCxnSpPr>
          <p:nvPr/>
        </p:nvCxnSpPr>
        <p:spPr bwMode="auto">
          <a:xfrm>
            <a:off x="5382705" y="5593874"/>
            <a:ext cx="377073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6" name="Straight Connector 25">
            <a:extLst>
              <a:ext uri="{FF2B5EF4-FFF2-40B4-BE49-F238E27FC236}">
                <a16:creationId xmlns:a16="http://schemas.microsoft.com/office/drawing/2014/main" id="{B3A1993B-DDBB-2DC6-9812-C5FF88DDDE65}"/>
              </a:ext>
            </a:extLst>
          </p:cNvPr>
          <p:cNvCxnSpPr>
            <a:cxnSpLocks/>
          </p:cNvCxnSpPr>
          <p:nvPr/>
        </p:nvCxnSpPr>
        <p:spPr bwMode="auto">
          <a:xfrm>
            <a:off x="4939646" y="5593874"/>
            <a:ext cx="452486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29" name="Straight Connector 28">
            <a:extLst>
              <a:ext uri="{FF2B5EF4-FFF2-40B4-BE49-F238E27FC236}">
                <a16:creationId xmlns:a16="http://schemas.microsoft.com/office/drawing/2014/main" id="{E8ACF80B-4725-071B-4064-DEDE7323E5F4}"/>
              </a:ext>
            </a:extLst>
          </p:cNvPr>
          <p:cNvCxnSpPr>
            <a:cxnSpLocks/>
          </p:cNvCxnSpPr>
          <p:nvPr/>
        </p:nvCxnSpPr>
        <p:spPr bwMode="auto">
          <a:xfrm>
            <a:off x="4705350" y="5593874"/>
            <a:ext cx="234296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EE1C3BC4-05D1-FD48-DF0A-A05A691327C5}"/>
              </a:ext>
            </a:extLst>
          </p:cNvPr>
          <p:cNvCxnSpPr>
            <a:cxnSpLocks/>
          </p:cNvCxnSpPr>
          <p:nvPr/>
        </p:nvCxnSpPr>
        <p:spPr bwMode="auto">
          <a:xfrm>
            <a:off x="7461275" y="5593874"/>
            <a:ext cx="376130" cy="0"/>
          </a:xfrm>
          <a:prstGeom prst="line">
            <a:avLst/>
          </a:prstGeom>
          <a:ln>
            <a:solidFill>
              <a:srgbClr val="C00000"/>
            </a:solidFill>
            <a:headEnd type="none" w="med" len="med"/>
            <a:tailEnd type="none" w="med" len="med"/>
          </a:ln>
        </p:spPr>
        <p:style>
          <a:lnRef idx="3">
            <a:schemeClr val="accent4"/>
          </a:lnRef>
          <a:fillRef idx="0">
            <a:schemeClr val="accent4"/>
          </a:fillRef>
          <a:effectRef idx="2">
            <a:schemeClr val="accent4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98087203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37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outVertical)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5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6" presetClass="entr" presetSubtype="2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33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0604300-C866-2CDC-82FB-57A312FB5A6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i="0" dirty="0"/>
              <a:t>The Joint Loss Function</a:t>
            </a:r>
            <a:endParaRPr lang="en-US" b="0" i="0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6E472-A084-3B89-86E3-DB458F665D7E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Reconstruction loss (MSE in</a:t>
                </a:r>
                <a14:m>
                  <m:oMath xmlns:m="http://schemas.openxmlformats.org/officeDocument/2006/math">
                    <m:sSup>
                      <m:sSupPr>
                        <m:ctrlPr>
                          <a:rPr lang="en-US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b="1" i="1" smtClean="0">
                            <a:latin typeface="Cambria Math" panose="02040503050406030204" pitchFamily="18" charset="0"/>
                          </a:rPr>
                          <m:t> 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ℝ</m:t>
                        </m:r>
                      </m:e>
                      <m:sup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US" i="1" smtClean="0"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</m:sSup>
                  </m:oMath>
                </a14:m>
                <a:r>
                  <a:rPr lang="en-US" dirty="0"/>
                  <a:t>):</a:t>
                </a:r>
              </a:p>
              <a:p>
                <a:endParaRPr lang="en-US" dirty="0"/>
              </a:p>
              <a:p>
                <a:pPr>
                  <a:lnSpc>
                    <a:spcPct val="250000"/>
                  </a:lnSpc>
                </a:pPr>
                <a:r>
                  <a:rPr lang="en-US" dirty="0"/>
                  <a:t>PAPR penalty (oversampled time‐domain waveform,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𝐿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≥ 4</m:t>
                    </m:r>
                  </m:oMath>
                </a14:m>
                <a:r>
                  <a:rPr lang="en-US" dirty="0"/>
                  <a:t>)</a:t>
                </a:r>
              </a:p>
              <a:p>
                <a:pPr>
                  <a:lnSpc>
                    <a:spcPct val="250000"/>
                  </a:lnSpc>
                </a:pPr>
                <a:endParaRPr lang="en-US" dirty="0"/>
              </a:p>
              <a:p>
                <a:pPr>
                  <a:lnSpc>
                    <a:spcPct val="300000"/>
                  </a:lnSpc>
                </a:pPr>
                <a:r>
                  <a:rPr lang="en-US" dirty="0"/>
                  <a:t>Joint loss: (</a:t>
                </a:r>
                <a14:m>
                  <m:oMath xmlns:m="http://schemas.openxmlformats.org/officeDocument/2006/math">
                    <m:r>
                      <a:rPr lang="en-US" i="1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dirty="0"/>
                  <a:t> governs the BER–PAPR trade‐off)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EDC6E472-A084-3B89-86E3-DB458F665D7E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5"/>
                <a:stretch>
                  <a:fillRect l="-294" t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6" name="Picture 5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cal{L}_1(\bm{r},\hat{\bm{r}})&#10;= \frac{1}{2N}\bigl\|\bm{r} - g\bigl(\mathrm{FFT}(\mathbb{H} \circ \mathrm{IFFT}(f(\bm{r}; \theta_f)) + \epsilon); \theta_g\bigr)\bigr\|_2^2&#10;= \frac{1}{2N}\sum_{i=0}^{2N-1}\bigl(r_i - \hat{r}_i\bigr)^2.&#10;\]&#10;&#10;\end{document}" title="IguanaTex Picture Display">
            <a:extLst>
              <a:ext uri="{FF2B5EF4-FFF2-40B4-BE49-F238E27FC236}">
                <a16:creationId xmlns:a16="http://schemas.microsoft.com/office/drawing/2014/main" id="{D5A1F341-51C6-BF6C-EA75-5F6C0B2DBA94}"/>
              </a:ext>
            </a:extLst>
          </p:cNvPr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616834" y="1831892"/>
            <a:ext cx="6958325" cy="591238"/>
          </a:xfrm>
          <a:prstGeom prst="rect">
            <a:avLst/>
          </a:prstGeom>
        </p:spPr>
      </p:pic>
      <p:pic>
        <p:nvPicPr>
          <p:cNvPr id="7" name="Picture 6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cal{L}_2(\boldsymbol{r}) = \text{PAPR}\left\{\text{IFFT}(f(\boldsymbol{r}; \theta_f))\right\} = \frac{\max\limits_{0 \leq n \leq NL-1} |x[n]|^2}{\frac{1}{NL} \sum\limits_{n=0}^{NL-1} |x[n]|^2}&#10;\]&#10;&#10;\end{document}" title="IguanaTex Picture Display">
            <a:extLst>
              <a:ext uri="{FF2B5EF4-FFF2-40B4-BE49-F238E27FC236}">
                <a16:creationId xmlns:a16="http://schemas.microsoft.com/office/drawing/2014/main" id="{67C443EA-2234-6ACB-D508-582DD7C8CE11}"/>
              </a:ext>
            </a:extLst>
          </p:cNvPr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67008" y="2787436"/>
            <a:ext cx="4657981" cy="888686"/>
          </a:xfrm>
          <a:prstGeom prst="rect">
            <a:avLst/>
          </a:prstGeom>
        </p:spPr>
      </p:pic>
      <p:pic>
        <p:nvPicPr>
          <p:cNvPr id="9" name="Picture 8" descr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cal{L}(\boldsymbol{r}, \hat{\boldsymbol{r}}) = \mathcal{L}_1(\boldsymbol{r}, \hat{\boldsymbol{r}}) + \lambda \mathcal{L}_2(\boldsymbol{r})&#10;\]&#10;&#10;\end{document}" title="IguanaTex Picture Display">
            <a:extLst>
              <a:ext uri="{FF2B5EF4-FFF2-40B4-BE49-F238E27FC236}">
                <a16:creationId xmlns:a16="http://schemas.microsoft.com/office/drawing/2014/main" id="{9C43A66D-0EED-9FDB-477A-9BCD6866D8F0}"/>
              </a:ext>
            </a:extLst>
          </p:cNvPr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81826" y="4250656"/>
            <a:ext cx="2428343" cy="20358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091724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itle 6">
            <a:extLst>
              <a:ext uri="{FF2B5EF4-FFF2-40B4-BE49-F238E27FC236}">
                <a16:creationId xmlns:a16="http://schemas.microsoft.com/office/drawing/2014/main" id="{10BF698B-2E99-B05B-03B5-587241FEFB1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Two-Stage Training Methodology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98D7AF0-994A-9FA7-F9CF-18794CCBA16D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914400" y="2043028"/>
                <a:ext cx="5049078" cy="4452668"/>
              </a:xfrm>
            </p:spPr>
            <p:txBody>
              <a:bodyPr/>
              <a:lstStyle/>
              <a:p>
                <a:r>
                  <a:rPr lang="en-US" sz="1400" dirty="0"/>
                  <a:t>Stage 1 — Noise Selection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 = 0): Sweep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𝜂</m:t>
                    </m:r>
                  </m:oMath>
                </a14:m>
                <a:r>
                  <a:rPr lang="en-US" sz="1400" dirty="0"/>
                  <a:t> while training with reconstruction loss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US" sz="1400" i="1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400" i="1" smtClean="0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</m:oMath>
                </a14:m>
                <a:r>
                  <a:rPr lang="en-US" sz="1400" dirty="0"/>
                  <a:t>only.</a:t>
                </a:r>
              </a:p>
            </p:txBody>
          </p:sp>
        </mc:Choice>
        <mc:Fallback xmlns="">
          <p:sp>
            <p:nvSpPr>
              <p:cNvPr id="8" name="Content Placeholder 7">
                <a:extLst>
                  <a:ext uri="{FF2B5EF4-FFF2-40B4-BE49-F238E27FC236}">
                    <a16:creationId xmlns:a16="http://schemas.microsoft.com/office/drawing/2014/main" id="{B98D7AF0-994A-9FA7-F9CF-18794CCBA16D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914400" y="2043028"/>
                <a:ext cx="5049078" cy="4452668"/>
              </a:xfrm>
              <a:blipFill>
                <a:blip r:embed="rId2"/>
                <a:stretch>
                  <a:fillRect l="-362" t="-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1C96AD-2535-968A-FA4D-A59078777014}"/>
                  </a:ext>
                </a:extLst>
              </p:cNvPr>
              <p:cNvSpPr>
                <a:spLocks noGrp="1"/>
              </p:cNvSpPr>
              <p:nvPr>
                <p:ph idx="10"/>
              </p:nvPr>
            </p:nvSpPr>
            <p:spPr>
              <a:xfrm>
                <a:off x="6196773" y="2043028"/>
                <a:ext cx="5049078" cy="4452668"/>
              </a:xfrm>
            </p:spPr>
            <p:txBody>
              <a:bodyPr/>
              <a:lstStyle/>
              <a:p>
                <a:r>
                  <a:rPr lang="en-US" sz="1400" dirty="0"/>
                  <a:t>Stage 2 —Trade‐Off Training (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 =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𝜂</m:t>
                    </m:r>
                    <m:r>
                      <a:rPr lang="en-US" sz="1400" b="1" i="1" dirty="0" smtClean="0">
                        <a:latin typeface="Cambria Math" panose="02040503050406030204" pitchFamily="18" charset="0"/>
                      </a:rPr>
                      <m:t>∗</m:t>
                    </m:r>
                  </m:oMath>
                </a14:m>
                <a:r>
                  <a:rPr lang="en-US" sz="1400" dirty="0"/>
                  <a:t>): Sweep penalty weight </a:t>
                </a:r>
                <a14:m>
                  <m:oMath xmlns:m="http://schemas.openxmlformats.org/officeDocument/2006/math"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𝜆</m:t>
                    </m:r>
                  </m:oMath>
                </a14:m>
                <a:r>
                  <a:rPr lang="en-US" sz="1400" dirty="0"/>
                  <a:t> under the full loss</a:t>
                </a:r>
                <a14:m>
                  <m:oMath xmlns:m="http://schemas.openxmlformats.org/officeDocument/2006/math">
                    <m:r>
                      <a:rPr lang="en-US" sz="1400" b="1" i="0" smtClean="0">
                        <a:latin typeface="Cambria Math" panose="02040503050406030204" pitchFamily="18" charset="0"/>
                      </a:rPr>
                      <m:t> </m:t>
                    </m:r>
                    <m:r>
                      <a:rPr lang="en-US" sz="1400" i="1">
                        <a:latin typeface="Cambria Math" panose="02040503050406030204" pitchFamily="18" charset="0"/>
                      </a:rPr>
                      <m:t>ℒ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=</m:t>
                    </m:r>
                    <m:sSub>
                      <m:sSubPr>
                        <m:ctrlPr>
                          <a:rPr lang="en-US" sz="14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400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+ </m:t>
                    </m:r>
                    <m:r>
                      <a:rPr lang="en-US" sz="1400" i="1" dirty="0" smtClean="0">
                        <a:latin typeface="Cambria Math" panose="02040503050406030204" pitchFamily="18" charset="0"/>
                      </a:rPr>
                      <m:t>𝜆</m:t>
                    </m:r>
                    <m:r>
                      <a:rPr lang="en-US" sz="1400" b="1" i="1" dirty="0" smtClean="0">
                        <a:latin typeface="Cambria Math" panose="02040503050406030204" pitchFamily="18" charset="0"/>
                      </a:rPr>
                      <m:t> </m:t>
                    </m:r>
                    <m:sSub>
                      <m:sSubPr>
                        <m:ctrlPr>
                          <a:rPr lang="en-US" sz="1400" i="1" dirty="0" smtClean="0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1400" dirty="0">
                            <a:latin typeface="Cambria Math" panose="02040503050406030204" pitchFamily="18" charset="0"/>
                          </a:rPr>
                          <m:t>ℒ</m:t>
                        </m:r>
                      </m:e>
                      <m:sub>
                        <m:r>
                          <a:rPr lang="en-US" sz="1400" i="0" dirty="0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</m:oMath>
                </a14:m>
                <a:endParaRPr lang="en-US" sz="1400" dirty="0"/>
              </a:p>
            </p:txBody>
          </p:sp>
        </mc:Choice>
        <mc:Fallback xmlns="">
          <p:sp>
            <p:nvSpPr>
              <p:cNvPr id="9" name="Content Placeholder 8">
                <a:extLst>
                  <a:ext uri="{FF2B5EF4-FFF2-40B4-BE49-F238E27FC236}">
                    <a16:creationId xmlns:a16="http://schemas.microsoft.com/office/drawing/2014/main" id="{A01C96AD-2535-968A-FA4D-A59078777014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0"/>
              </p:nvPr>
            </p:nvSpPr>
            <p:spPr>
              <a:xfrm>
                <a:off x="6196773" y="2043028"/>
                <a:ext cx="5049078" cy="4452668"/>
              </a:xfrm>
              <a:blipFill>
                <a:blip r:embed="rId3"/>
                <a:stretch>
                  <a:fillRect l="-362" t="-27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E41B45-926E-455A-5740-45D82112DDD7}"/>
                  </a:ext>
                </a:extLst>
              </p:cNvPr>
              <p:cNvSpPr txBox="1"/>
              <p:nvPr/>
            </p:nvSpPr>
            <p:spPr>
              <a:xfrm>
                <a:off x="914400" y="1458253"/>
                <a:ext cx="10331451" cy="58477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sz="1600" b="1" dirty="0">
                    <a:solidFill>
                      <a:srgbClr val="0B5F9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Denoising autoencoder: Artificial noise at a corruption level </a:t>
                </a:r>
                <a14:m>
                  <m:oMath xmlns:m="http://schemas.openxmlformats.org/officeDocument/2006/math">
                    <m:r>
                      <a:rPr lang="en-US" sz="1600" b="1" i="1" dirty="0" smtClean="0">
                        <a:solidFill>
                          <a:srgbClr val="0B5F9F"/>
                        </a:solidFill>
                        <a:latin typeface="Cambria Math" panose="02040503050406030204" pitchFamily="18" charset="0"/>
                        <a:ea typeface="Calibri" panose="020F0502020204030204" pitchFamily="34" charset="0"/>
                        <a:cs typeface="Calibri" panose="020F0502020204030204" pitchFamily="34" charset="0"/>
                      </a:rPr>
                      <m:t>𝜼</m:t>
                    </m:r>
                  </m:oMath>
                </a14:m>
                <a:r>
                  <a:rPr lang="en-US" sz="1600" b="1" dirty="0">
                    <a:solidFill>
                      <a:srgbClr val="0B5F9F"/>
                    </a:solidFill>
                    <a:latin typeface="Calibri" panose="020F0502020204030204" pitchFamily="34" charset="0"/>
                    <a:ea typeface="Calibri" panose="020F0502020204030204" pitchFamily="34" charset="0"/>
                    <a:cs typeface="Calibri" panose="020F0502020204030204" pitchFamily="34" charset="0"/>
                  </a:rPr>
                  <a:t> (noise‐to‐signal ratio) is injected during the forward pass to simulate the physical channel and force the decoder to learn robust decision boundaries.</a:t>
                </a:r>
              </a:p>
            </p:txBody>
          </p:sp>
        </mc:Choice>
        <mc:Fallback xmlns="">
          <p:sp>
            <p:nvSpPr>
              <p:cNvPr id="17" name="TextBox 16">
                <a:extLst>
                  <a:ext uri="{FF2B5EF4-FFF2-40B4-BE49-F238E27FC236}">
                    <a16:creationId xmlns:a16="http://schemas.microsoft.com/office/drawing/2014/main" id="{25E41B45-926E-455A-5740-45D82112DD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14400" y="1458253"/>
                <a:ext cx="10331451" cy="584775"/>
              </a:xfrm>
              <a:prstGeom prst="rect">
                <a:avLst/>
              </a:prstGeom>
              <a:blipFill>
                <a:blip r:embed="rId4"/>
                <a:stretch>
                  <a:fillRect l="-295" t="-3125" b="-125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19" name="Picture 18">
            <a:extLst>
              <a:ext uri="{FF2B5EF4-FFF2-40B4-BE49-F238E27FC236}">
                <a16:creationId xmlns:a16="http://schemas.microsoft.com/office/drawing/2014/main" id="{3A597E89-8058-A236-AD6F-C877C26E9D14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52606" y="2544200"/>
            <a:ext cx="4572665" cy="3380348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CF1A9E39-6CC4-526A-5FEA-0C432C4A9094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28392" y="2544201"/>
            <a:ext cx="4585840" cy="338034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893855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A4EB0C-FF73-FEA5-4F03-D0B56EA703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1" y="578201"/>
            <a:ext cx="10299700" cy="7307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Simulation Setup &amp; Parameters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201EEAA8-2F36-F288-87ED-802FD47F5E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 bwMode="auto">
          <a:xfrm>
            <a:off x="2827182" y="1510748"/>
            <a:ext cx="6537636" cy="49849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001347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B65E1DF-5462-C14F-4E95-09445AACCD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1" y="578201"/>
            <a:ext cx="10299700" cy="730762"/>
          </a:xfrm>
        </p:spPr>
        <p:txBody>
          <a:bodyPr/>
          <a:lstStyle/>
          <a:p>
            <a:r>
              <a:rPr lang="en-US" dirty="0"/>
              <a:t>Learned Constellation Shaping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F79110D5-662B-86E5-58F3-1642400DA6B9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10748"/>
            <a:ext cx="5049078" cy="4984947"/>
          </a:xfrm>
        </p:spPr>
        <p:txBody>
          <a:bodyPr/>
          <a:lstStyle/>
          <a:p>
            <a:r>
              <a:rPr lang="en-US" dirty="0"/>
              <a:t>Unlike classical OFDM with rigid QPSK boundaries, the </a:t>
            </a:r>
            <a:r>
              <a:rPr lang="en-US" dirty="0" err="1"/>
              <a:t>PRNet</a:t>
            </a:r>
            <a:r>
              <a:rPr lang="en-US" dirty="0"/>
              <a:t> encoder dynamically disperses constellation points:</a:t>
            </a:r>
          </a:p>
          <a:p>
            <a:pPr marL="571500" indent="-285750">
              <a:buFont typeface="Courier New" panose="02070309020205020404" pitchFamily="49" charset="0"/>
              <a:buChar char="o"/>
            </a:pPr>
            <a:r>
              <a:rPr lang="en-US" dirty="0"/>
              <a:t>Maps discrete input data into a continuous, cloud-like spatial distribution.</a:t>
            </a:r>
          </a:p>
          <a:p>
            <a:pPr marL="571500" indent="-285750">
              <a:buFont typeface="Courier New" panose="02070309020205020404" pitchFamily="49" charset="0"/>
              <a:buChar char="o"/>
            </a:pPr>
            <a:r>
              <a:rPr lang="en-US" dirty="0"/>
              <a:t>Trades traditional Euclidean spacing for optimal PAPR reduction.</a:t>
            </a:r>
          </a:p>
          <a:p>
            <a:pPr marL="571500" indent="-285750">
              <a:buFont typeface="Courier New" panose="02070309020205020404" pitchFamily="49" charset="0"/>
              <a:buChar char="o"/>
            </a:pPr>
            <a:r>
              <a:rPr lang="en-US" dirty="0"/>
              <a:t>The jointly trained decoder learns to recover data from this custom distribution without explicit knowledge of the mapping.</a:t>
            </a:r>
          </a:p>
        </p:txBody>
      </p:sp>
      <p:pic>
        <p:nvPicPr>
          <p:cNvPr id="6" name="Content Placeholder 5">
            <a:extLst>
              <a:ext uri="{FF2B5EF4-FFF2-40B4-BE49-F238E27FC236}">
                <a16:creationId xmlns:a16="http://schemas.microsoft.com/office/drawing/2014/main" id="{5A4A41C5-AFDD-F779-1697-F616EF0C31FC}"/>
              </a:ext>
            </a:extLst>
          </p:cNvPr>
          <p:cNvPicPr>
            <a:picLocks noGrp="1" noChangeAspect="1"/>
          </p:cNvPicPr>
          <p:nvPr>
            <p:ph idx="10"/>
          </p:nvPr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6341000" y="1510748"/>
            <a:ext cx="4760624" cy="4984947"/>
          </a:xfrm>
          <a:prstGeom prst="rect">
            <a:avLst/>
          </a:prstGeom>
          <a:solidFill>
            <a:schemeClr val="accent1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  <p:extLst>
      <p:ext uri="{BB962C8B-B14F-4D97-AF65-F5344CB8AC3E}">
        <p14:creationId xmlns:p14="http://schemas.microsoft.com/office/powerpoint/2010/main" val="102905166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9065671-4014-7DB1-6369-597A36AB4D8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7B735D5-E146-262C-D900-5C1072E6023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BER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FA2428F-B8A0-8AF3-6739-876F7C62DE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10748"/>
            <a:ext cx="5049078" cy="3191881"/>
          </a:xfrm>
        </p:spPr>
        <p:txBody>
          <a:bodyPr/>
          <a:lstStyle/>
          <a:p>
            <a:pPr algn="ctr"/>
            <a:r>
              <a:rPr lang="en-US" dirty="0"/>
              <a:t>Original Paper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53EBABA-71DB-882B-6CBF-C717DD13A1F8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6773" y="1510748"/>
            <a:ext cx="5049078" cy="3191881"/>
          </a:xfrm>
        </p:spPr>
        <p:txBody>
          <a:bodyPr/>
          <a:lstStyle/>
          <a:p>
            <a:pPr algn="ctr"/>
            <a:r>
              <a:rPr lang="en-US" dirty="0"/>
              <a:t>Our Reproduction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DCC8CCF-0B84-9A8A-9566-7222B2D20DB2}"/>
              </a:ext>
            </a:extLst>
          </p:cNvPr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6681" y="1905621"/>
            <a:ext cx="4289261" cy="3370134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783571EA-86C1-3CE5-E5F2-4CCAF3D742C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7821" y="1905620"/>
            <a:ext cx="4472514" cy="3370135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9927E85-BC91-3BBC-775C-79B0E96D6AE7}"/>
              </a:ext>
            </a:extLst>
          </p:cNvPr>
          <p:cNvSpPr txBox="1"/>
          <p:nvPr/>
        </p:nvSpPr>
        <p:spPr>
          <a:xfrm>
            <a:off x="914399" y="5275756"/>
            <a:ext cx="1029969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Accurate Reproduction: Our independently trained model perfectly matches the BER curve from the original paper.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Superior to Classical Methods: </a:t>
            </a:r>
            <a:r>
              <a:rPr lang="en-US" sz="1600" b="1" dirty="0" err="1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PRNet</a:t>
            </a: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achieves a lower Bit Error Rate (BER) than traditional techniques like Clipping and PTS.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Proven Robustness: The results confirm that the neural network successfully learns to protect the data against severe channel fading.</a:t>
            </a:r>
          </a:p>
        </p:txBody>
      </p:sp>
    </p:spTree>
    <p:extLst>
      <p:ext uri="{BB962C8B-B14F-4D97-AF65-F5344CB8AC3E}">
        <p14:creationId xmlns:p14="http://schemas.microsoft.com/office/powerpoint/2010/main" val="292549313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31E6C0-3D96-5722-7444-E98B26D13A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D0E625-5401-2DE7-05AF-8E282FE3769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PAPR Performance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32E7D76-8DBF-F70F-BCCC-F40F8690980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400" y="1510748"/>
            <a:ext cx="5049078" cy="3191881"/>
          </a:xfrm>
        </p:spPr>
        <p:txBody>
          <a:bodyPr/>
          <a:lstStyle/>
          <a:p>
            <a:pPr algn="ctr"/>
            <a:r>
              <a:rPr lang="en-US" dirty="0"/>
              <a:t>Original Paper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A1AA980-0CEA-4B16-9823-C2AD7681A2C7}"/>
              </a:ext>
            </a:extLst>
          </p:cNvPr>
          <p:cNvSpPr>
            <a:spLocks noGrp="1"/>
          </p:cNvSpPr>
          <p:nvPr>
            <p:ph idx="10"/>
          </p:nvPr>
        </p:nvSpPr>
        <p:spPr>
          <a:xfrm>
            <a:off x="6196773" y="1510748"/>
            <a:ext cx="5049078" cy="3191881"/>
          </a:xfrm>
        </p:spPr>
        <p:txBody>
          <a:bodyPr/>
          <a:lstStyle/>
          <a:p>
            <a:pPr algn="ctr"/>
            <a:r>
              <a:rPr lang="en-US" dirty="0"/>
              <a:t>Our Reproduction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03C87106-522F-5BE4-B58D-2F35B7D80F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6576681" y="1910238"/>
            <a:ext cx="4289261" cy="3360900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80B4D7A2-BF1E-69CC-53D4-601E37E2D2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207821" y="1936789"/>
            <a:ext cx="4472514" cy="3307797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2AED34DA-1902-E5EF-F405-382C5F56D22C}"/>
              </a:ext>
            </a:extLst>
          </p:cNvPr>
          <p:cNvSpPr txBox="1"/>
          <p:nvPr/>
        </p:nvSpPr>
        <p:spPr>
          <a:xfrm>
            <a:off x="914399" y="5275756"/>
            <a:ext cx="10299699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Massive Reduction: </a:t>
            </a:r>
            <a:r>
              <a:rPr lang="en-US" sz="1600" b="1" dirty="0" err="1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PRNet</a:t>
            </a: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successfully reduces PAPR by an impressive 4–5 dB compared to standard OFDM (</a:t>
            </a:r>
            <a:r>
              <a:rPr lang="en-US" sz="1600" b="1" i="0" dirty="0">
                <a:solidFill>
                  <a:srgbClr val="0B5F9F"/>
                </a:solidFill>
                <a:latin typeface="+mj-lt"/>
                <a:ea typeface="Cambria Math" panose="02040503050406030204" pitchFamily="18" charset="0"/>
                <a:cs typeface="Calibri" panose="020F0502020204030204" pitchFamily="34" charset="0"/>
              </a:rPr>
              <a:t>≈</a:t>
            </a: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10.5 dB).</a:t>
            </a:r>
          </a:p>
          <a:p>
            <a:pPr marL="285750" indent="-285750">
              <a:buFont typeface="Courier New" panose="02070309020205020404" pitchFamily="49" charset="0"/>
              <a:buChar char="o"/>
            </a:pP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A Surprising Discrepancy: The original paper reports a final PAPR of </a:t>
            </a:r>
            <a:r>
              <a:rPr lang="en-US" sz="1600" b="1" i="0" dirty="0">
                <a:solidFill>
                  <a:srgbClr val="0B5F9F"/>
                </a:solidFill>
                <a:latin typeface="+mj-lt"/>
                <a:ea typeface="Cambria Math" panose="02040503050406030204" pitchFamily="18" charset="0"/>
                <a:cs typeface="Calibri" panose="020F0502020204030204" pitchFamily="34" charset="0"/>
              </a:rPr>
              <a:t>≈</a:t>
            </a:r>
            <a:r>
              <a:rPr lang="en-US" sz="1600" b="1" dirty="0">
                <a:solidFill>
                  <a:srgbClr val="0B5F9F"/>
                </a:solidFill>
                <a:ea typeface="Cambria Math" panose="02040503050406030204" pitchFamily="18" charset="0"/>
                <a:cs typeface="Calibri" panose="020F0502020204030204" pitchFamily="34" charset="0"/>
              </a:rPr>
              <a:t>  </a:t>
            </a: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3 </a:t>
            </a:r>
            <a:r>
              <a:rPr lang="en-US" sz="1600" b="1" dirty="0" err="1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dB.</a:t>
            </a: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However, our strict reproduction reveals the true physical PAPR is actually </a:t>
            </a:r>
            <a:r>
              <a:rPr lang="en-US" sz="1600" b="1" i="0" dirty="0">
                <a:solidFill>
                  <a:srgbClr val="0B5F9F"/>
                </a:solidFill>
                <a:latin typeface="+mj-lt"/>
                <a:ea typeface="Cambria Math" panose="02040503050406030204" pitchFamily="18" charset="0"/>
                <a:cs typeface="Calibri" panose="020F0502020204030204" pitchFamily="34" charset="0"/>
              </a:rPr>
              <a:t>≈</a:t>
            </a:r>
            <a:r>
              <a:rPr lang="en-US" sz="1600" b="1" dirty="0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6 </a:t>
            </a:r>
            <a:r>
              <a:rPr lang="en-US" sz="1600" b="1" dirty="0" err="1">
                <a:solidFill>
                  <a:srgbClr val="0B5F9F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dB.</a:t>
            </a:r>
            <a:endParaRPr lang="en-US" sz="1600" b="1" dirty="0">
              <a:solidFill>
                <a:srgbClr val="0B5F9F"/>
              </a:solidFill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026836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FE1A84B-BCAC-5DB8-BDAB-3BF356B4508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48177423-C6A6-C7A0-7F9B-F0A60429E4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946151" y="578201"/>
            <a:ext cx="10299700" cy="730762"/>
          </a:xfrm>
        </p:spPr>
        <p:txBody>
          <a:bodyPr wrap="square" anchor="ctr">
            <a:normAutofit/>
          </a:bodyPr>
          <a:lstStyle/>
          <a:p>
            <a:r>
              <a:rPr lang="en-US" dirty="0"/>
              <a:t>PAPR Reduction – Discrepancy Investigated</a:t>
            </a:r>
          </a:p>
        </p:txBody>
      </p:sp>
      <p:sp>
        <p:nvSpPr>
          <p:cNvPr id="13" name="Content Placeholder 2">
            <a:extLst>
              <a:ext uri="{FF2B5EF4-FFF2-40B4-BE49-F238E27FC236}">
                <a16:creationId xmlns:a16="http://schemas.microsoft.com/office/drawing/2014/main" id="{940D9BD4-F0A4-66D7-DFE5-042D996A334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14399" y="1744500"/>
            <a:ext cx="10331451" cy="4751195"/>
          </a:xfrm>
        </p:spPr>
        <p:txBody>
          <a:bodyPr wrap="square" anchor="t">
            <a:normAutofit/>
          </a:bodyPr>
          <a:lstStyle/>
          <a:p>
            <a:r>
              <a:rPr lang="en-US" dirty="0"/>
              <a:t>To understand why our results exactly doubled the original paper's claims, we audited the authors' open-source implementation.</a:t>
            </a:r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endParaRPr lang="en-US" dirty="0"/>
          </a:p>
          <a:p>
            <a:pPr lvl="1"/>
            <a:r>
              <a:rPr lang="en-US" dirty="0"/>
              <a:t>The Mathematical Impact: This coding error artificially halves the reported values, making a true 6 dB PAPR look like 3 </a:t>
            </a:r>
            <a:r>
              <a:rPr lang="en-US" dirty="0" err="1"/>
              <a:t>dB.</a:t>
            </a:r>
            <a:endParaRPr lang="en-US" dirty="0"/>
          </a:p>
          <a:p>
            <a:pPr lvl="1"/>
            <a:r>
              <a:rPr lang="en-US" dirty="0"/>
              <a:t>The Reality: Even after fixing this mathematical error, </a:t>
            </a:r>
            <a:r>
              <a:rPr lang="en-US" dirty="0" err="1"/>
              <a:t>PRNet</a:t>
            </a:r>
            <a:r>
              <a:rPr lang="en-US" dirty="0"/>
              <a:t> still reduces PAPR by an impressive 4–5 dB compared to standard OFDM.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06243F06-0A90-5991-9C28-73EFD5042F6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86620" y="2439826"/>
            <a:ext cx="10218759" cy="15416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2236198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C4ED1F0-952F-CF84-256F-DF8A49E1E91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Computational Complexity &amp; Limitations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422641-C001-423E-2F2C-E53BFC461A88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dirty="0"/>
                  <a:t>Computational Complexity:</a:t>
                </a:r>
              </a:p>
              <a:p>
                <a:pPr lvl="1"/>
                <a:r>
                  <a:rPr lang="en-US" dirty="0"/>
                  <a:t>Theoretical complexity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𝓞</m:t>
                    </m:r>
                    <m:d>
                      <m:dPr>
                        <m:ctrlPr>
                          <a:rPr lang="en-US" i="1" dirty="0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𝐿</m:t>
                        </m:r>
                        <m:r>
                          <a:rPr lang="en-US" i="1" dirty="0">
                            <a:latin typeface="Cambria Math" panose="02040503050406030204" pitchFamily="18" charset="0"/>
                          </a:rPr>
                          <m:t>·</m:t>
                        </m:r>
                        <m:r>
                          <a:rPr lang="en-US" b="1" i="1" dirty="0" smtClean="0">
                            <a:latin typeface="Cambria Math" panose="02040503050406030204" pitchFamily="18" charset="0"/>
                          </a:rPr>
                          <m:t> </m:t>
                        </m:r>
                        <m:sSup>
                          <m:sSupPr>
                            <m:ctrlPr>
                              <a:rPr lang="en-US" i="1" dirty="0" smtClean="0">
                                <a:latin typeface="Cambria Math" panose="02040503050406030204" pitchFamily="18" charset="0"/>
                              </a:rPr>
                            </m:ctrlPr>
                          </m:sSupPr>
                          <m:e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US" i="1" dirty="0"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a:rPr lang="en-US" i="1" dirty="0">
                        <a:latin typeface="Cambria Math" panose="02040503050406030204" pitchFamily="18" charset="0"/>
                      </a:rPr>
                      <m:t>.</m:t>
                    </m:r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Real‐time GPU inference: 480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vs. PTS: 2,890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µ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lang="en-US" dirty="0"/>
                  <a:t> (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≈</m:t>
                    </m:r>
                  </m:oMath>
                </a14:m>
                <a:r>
                  <a:rPr lang="en-US" dirty="0"/>
                  <a:t> 6x speedup over classical methods).</a:t>
                </a:r>
              </a:p>
              <a:p>
                <a:endParaRPr lang="en-US" dirty="0"/>
              </a:p>
              <a:p>
                <a:r>
                  <a:rPr lang="en-US" dirty="0"/>
                  <a:t>Practical Limitations of </a:t>
                </a:r>
                <a:r>
                  <a:rPr lang="en-US" dirty="0" err="1"/>
                  <a:t>PRNet</a:t>
                </a:r>
                <a:r>
                  <a:rPr lang="en-US" dirty="0"/>
                  <a:t>:</a:t>
                </a:r>
                <a14:m>
                  <m:oMath xmlns:m="http://schemas.openxmlformats.org/officeDocument/2006/math">
                    <a:fld id="{825F15A7-03F4-43D7-82C5-3E23DA2F108C}" type="mathplaceholder">
                      <a:rPr lang="en-US" i="1" smtClean="0">
                        <a:latin typeface="Cambria Math" panose="02040503050406030204" pitchFamily="18" charset="0"/>
                      </a:rPr>
                      <a:t>Type equation here.</a:t>
                    </a:fld>
                  </m:oMath>
                </a14:m>
                <a:endParaRPr lang="en-US" dirty="0"/>
              </a:p>
              <a:p>
                <a:pPr lvl="1"/>
                <a:r>
                  <a:rPr lang="en-US" dirty="0"/>
                  <a:t>Scalability: FC layers scale as </a:t>
                </a:r>
                <a14:m>
                  <m:oMath xmlns:m="http://schemas.openxmlformats.org/officeDocument/2006/math">
                    <m:r>
                      <a:rPr lang="en-US" i="1" dirty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𝓞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n-US" i="1" dirty="0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𝑁</m:t>
                        </m:r>
                      </m:e>
                      <m:sup>
                        <m:r>
                          <a:rPr lang="en-US" i="1" dirty="0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US" i="1" dirty="0" smtClean="0">
                        <a:latin typeface="Cambria Math" panose="02040503050406030204" pitchFamily="18" charset="0"/>
                      </a:rPr>
                      <m:t>) </m:t>
                    </m:r>
                  </m:oMath>
                </a14:m>
                <a:r>
                  <a:rPr lang="en-US" dirty="0"/>
                  <a:t>— impractical for commercial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i="1" dirty="0" smtClean="0">
                        <a:latin typeface="Cambria Math" panose="02040503050406030204" pitchFamily="18" charset="0"/>
                      </a:rPr>
                      <m:t> = 1024</m:t>
                    </m:r>
                  </m:oMath>
                </a14:m>
                <a:r>
                  <a:rPr lang="en-US" dirty="0"/>
                  <a:t>.</a:t>
                </a:r>
              </a:p>
              <a:p>
                <a:pPr lvl="1"/>
                <a:r>
                  <a:rPr lang="en-US" dirty="0"/>
                  <a:t>Channel mismatch: Overfits to the training fading model; degrades under unmodelled conditions.</a:t>
                </a:r>
              </a:p>
              <a:p>
                <a:pPr lvl="1"/>
                <a:r>
                  <a:rPr lang="en-US" dirty="0"/>
                  <a:t>Configuration rigidity: Changing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𝑁</m:t>
                    </m:r>
                  </m:oMath>
                </a14:m>
                <a:r>
                  <a:rPr lang="en-US" dirty="0"/>
                  <a:t> or </a:t>
                </a:r>
                <a14:m>
                  <m:oMath xmlns:m="http://schemas.openxmlformats.org/officeDocument/2006/math">
                    <m:r>
                      <a:rPr lang="en-US" i="1" dirty="0" smtClean="0">
                        <a:latin typeface="Cambria Math" panose="02040503050406030204" pitchFamily="18" charset="0"/>
                      </a:rPr>
                      <m:t>𝑀</m:t>
                    </m:r>
                  </m:oMath>
                </a14:m>
                <a:r>
                  <a:rPr lang="en-US" dirty="0"/>
                  <a:t> requires full architectural redesign and retraining.</a:t>
                </a:r>
              </a:p>
              <a:p>
                <a:pPr lvl="1"/>
                <a:r>
                  <a:rPr lang="en-US" dirty="0"/>
                  <a:t>Interpretability: Black‐box weights prevent worst‐case guarantees required by telecom standards.</a:t>
                </a:r>
              </a:p>
            </p:txBody>
          </p:sp>
        </mc:Choice>
        <mc:Fallback xmlns="">
          <p:sp>
            <p:nvSpPr>
              <p:cNvPr id="3" name="Content Placeholder 2">
                <a:extLst>
                  <a:ext uri="{FF2B5EF4-FFF2-40B4-BE49-F238E27FC236}">
                    <a16:creationId xmlns:a16="http://schemas.microsoft.com/office/drawing/2014/main" id="{BC422641-C001-423E-2F2C-E53BFC461A88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2"/>
                <a:stretch>
                  <a:fillRect l="-294" t="-3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92983698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2.4822"/>
  <p:tag name="ORIGINALWIDTH" val=" 1992.501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bf{r} = [I_0, Q_0, \dots, I_{N-1}, Q_{N-1}]^T \in \mathbb{R}^{2N}&#10;\]&#10;&#10;\end{document}"/>
  <p:tag name="IGUANATEXSIZE" val="16"/>
  <p:tag name="IGUANATEXCURSOR" val="294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385"/>
  <p:tag name="LATEXFORMWRAP" val="True"/>
  <p:tag name="BITMAPVECTOR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7.7315"/>
  <p:tag name="ORIGINALWIDTH" val=" 1004.874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bf{X} = f(\mathbf{r}; \theta_f) \in \mathbb{C}^N&#10;\]&#10;&#10;\end{document}"/>
  <p:tag name="IGUANATEXSIZE" val="16"/>
  <p:tag name="IGUANATEXCURSOR" val="277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385"/>
  <p:tag name="LATEXFORMWRAP" val="True"/>
  <p:tag name="BITMAPVECTOR" val="0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056.618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y[n] = \mathbb{H}(\text{IFFT}(\mathbf{X}))&#10;\]&#10;&#10;\end{document}"/>
  <p:tag name="IGUANATEXSIZE" val="16"/>
  <p:tag name="IGUANATEXCURSOR" val="266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385"/>
  <p:tag name="LATEXFORMWRAP" val="True"/>
  <p:tag name="BITMAPVECTOR" val="0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273.7158"/>
  <p:tag name="ORIGINALWIDTH" val=" 792.6509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hat{Y}_k = X_k + \frac{E_k}{H_k}&#10;\]&#10;&#10;\end{document}"/>
  <p:tag name="IGUANATEXSIZE" val="16"/>
  <p:tag name="IGUANATEXCURSOR" val="257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385"/>
  <p:tag name="LATEXFORMWRAP" val="True"/>
  <p:tag name="BITMAPVECTOR" val="0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54.4807"/>
  <p:tag name="ORIGINALWIDTH" val=" 1040.12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hat{\mathbf{r}} = g(\hat{\mathbf{Y}}; \theta_g) \in \mathbb{R}^{2N}&#10;\]&#10;&#10;\end{document}"/>
  <p:tag name="IGUANATEXSIZE" val="16"/>
  <p:tag name="IGUANATEXCURSOR" val="292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385"/>
  <p:tag name="LATEXFORMWRAP" val="True"/>
  <p:tag name="BITMAPVECTOR" val="0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49.2313"/>
  <p:tag name="ORIGINALWIDTH" val=" 2142.482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hat{\bm{r}} = g\bigl(\mathrm{FFT}(\mathbb{H} \circ \mathrm{IFFT}(f(\bm{r}; \theta_f)) + \epsilon); \theta_g\bigr)&#10;\]&#10;&#10;\end{document}"/>
  <p:tag name="IGUANATEXSIZE" val="16"/>
  <p:tag name="IGUANATEXCURSOR" val="335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385"/>
  <p:tag name="LATEXFORMWRAP" val="True"/>
  <p:tag name="BITMAPVECTOR" val="0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363.7046"/>
  <p:tag name="ORIGINALWIDTH" val=" 4280.465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cal{L}_1(\bm{r},\hat{\bm{r}})&#10;= \frac{1}{2N}\bigl\|\bm{r} - g\bigl(\mathrm{FFT}(\mathbb{H} \circ \mathrm{IFFT}(f(\bm{r}; \theta_f)) + \epsilon); \theta_g\bigr)\bigr\|_2^2&#10;= \frac{1}{2N}\sum_{i=0}^{2N-1}\bigl(r_i - \hat{r}_i\bigr)^2.&#10;\]&#10;&#10;\end{document}"/>
  <p:tag name="IGUANATEXSIZE" val="16"/>
  <p:tag name="IGUANATEXCURSOR" val="458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604.2"/>
  <p:tag name="LATEXFORMWRAP" val="True"/>
  <p:tag name="BITMAPVECTOR" val="0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546.6816"/>
  <p:tag name="ORIGINALWIDTH" val=" 2865.392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cal{L}_2(\boldsymbol{r}) = \text{PAPR}\left\{\text{IFFT}(f(\boldsymbol{r}; \theta_f))\right\} = \frac{\max\limits_{0 \leq n \leq NL-1} |x[n]|^2}{\frac{1}{NL} \sum\limits_{n=0}^{NL-1} |x[n]|^2}&#10;\]&#10;&#10;\end{document}"/>
  <p:tag name="IGUANATEXSIZE" val="16"/>
  <p:tag name="IGUANATEXCURSOR" val="421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385"/>
  <p:tag name="LATEXFORMWRAP" val="True"/>
  <p:tag name="BITMAPVECTOR" val="0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UTPUTDPI" val=" 1200"/>
  <p:tag name="ORIGINALHEIGHT" val=" 125.2343"/>
  <p:tag name="ORIGINALWIDTH" val=" 1493.813"/>
  <p:tag name="OUTPUTTYPE" val="PNG"/>
  <p:tag name="IGUANATEXVERSION" val="162"/>
  <p:tag name="LATEXADDIN" val="\documentclass{article}&#10;\pagestyle{empty}&#10;\usepackage{amsmath}&#10;\usepackage{amsfonts}&#10;\usepackage{amssymb}&#10;\usepackage{bm}&#10;\usepackage{xcolor}&#10;&#10;\definecolor{slideblue}{HTML}{005088}&#10;&#10;\begin{document}&#10;\color{slideblue}&#10;&#10;\[&#10;\mathcal{L}(\boldsymbol{r}, \hat{\boldsymbol{r}}) = \mathcal{L}_1(\boldsymbol{r}, \hat{\boldsymbol{r}}) + \lambda \mathcal{L}_2(\boldsymbol{r})&#10;\]&#10;&#10;\end{document}"/>
  <p:tag name="IGUANATEXSIZE" val="16"/>
  <p:tag name="IGUANATEXCURSOR" val="367"/>
  <p:tag name="TRANSPARENCY" val="True"/>
  <p:tag name="CHOOSECOLOR" val="False"/>
  <p:tag name="COLORHEX" val="000000"/>
  <p:tag name="LATEXENGINEID" val="0"/>
  <p:tag name="TEMPFOLDER" val=".\IguanaTemp\"/>
  <p:tag name="LATEXFORMHEIGHT" val=" 320"/>
  <p:tag name="LATEXFORMWIDTH" val=" 385"/>
  <p:tag name="LATEXFORMWRAP" val="True"/>
  <p:tag name="BITMAPVECTOR" val="0"/>
</p:tagLst>
</file>

<file path=ppt/theme/theme1.xml><?xml version="1.0" encoding="utf-8"?>
<a:theme xmlns:a="http://schemas.openxmlformats.org/drawingml/2006/main" name="Cactus">
  <a:themeElements>
    <a:clrScheme name="Cactus 7">
      <a:dk1>
        <a:srgbClr val="000000"/>
      </a:dk1>
      <a:lt1>
        <a:srgbClr val="FFFFFF"/>
      </a:lt1>
      <a:dk2>
        <a:srgbClr val="000000"/>
      </a:dk2>
      <a:lt2>
        <a:srgbClr val="006600"/>
      </a:lt2>
      <a:accent1>
        <a:srgbClr val="F5EBC1"/>
      </a:accent1>
      <a:accent2>
        <a:srgbClr val="FFCC00"/>
      </a:accent2>
      <a:accent3>
        <a:srgbClr val="FFFFFF"/>
      </a:accent3>
      <a:accent4>
        <a:srgbClr val="000000"/>
      </a:accent4>
      <a:accent5>
        <a:srgbClr val="F9F3DD"/>
      </a:accent5>
      <a:accent6>
        <a:srgbClr val="E7B900"/>
      </a:accent6>
      <a:hlink>
        <a:srgbClr val="0066FF"/>
      </a:hlink>
      <a:folHlink>
        <a:srgbClr val="B2B2B2"/>
      </a:folHlink>
    </a:clrScheme>
    <a:fontScheme name="Cactus">
      <a:majorFont>
        <a:latin typeface="Times New Roman"/>
        <a:ea typeface=""/>
        <a:cs typeface=""/>
      </a:majorFont>
      <a:minorFont>
        <a:latin typeface="Garamond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chemeClr val="tx1"/>
              </a:solidFill>
              <a:miter lim="800000"/>
              <a:headEnd/>
              <a:tailEnd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/>
      <a:lstStyle>
        <a:defPPr algn="ctr">
          <a:defRPr b="1" i="1" dirty="0">
            <a:solidFill>
              <a:srgbClr val="29385E"/>
            </a:solidFill>
            <a:latin typeface="Calibri" panose="020F0502020204030204" pitchFamily="34" charset="0"/>
            <a:cs typeface="Times New Roman" pitchFamily="18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round/>
          <a:headEnd type="none" w="med" len="med"/>
          <a:tailEnd type="none" w="med" len="med"/>
        </a:ln>
        <a:effectLst/>
        <a:extLs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none" lIns="91440" tIns="45720" rIns="91440" bIns="45720" numCol="1" anchor="t" anchorCtr="0" compatLnSpc="1">
        <a:prstTxWarp prst="textNoShape">
          <a:avLst/>
        </a:prstTxWarp>
      </a:bodyPr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Blackadder ITC" pitchFamily="82" charset="0"/>
            <a:ea typeface="Arial Unicode MS" pitchFamily="34" charset="-128"/>
            <a:cs typeface="Arial Unicode MS" pitchFamily="34" charset="-128"/>
          </a:defRPr>
        </a:defPPr>
      </a:lstStyle>
    </a:lnDef>
  </a:objectDefaults>
  <a:extraClrSchemeLst>
    <a:extraClrScheme>
      <a:clrScheme name="Cactus 1">
        <a:dk1>
          <a:srgbClr val="FF9900"/>
        </a:dk1>
        <a:lt1>
          <a:srgbClr val="FFFFCC"/>
        </a:lt1>
        <a:dk2>
          <a:srgbClr val="000000"/>
        </a:dk2>
        <a:lt2>
          <a:srgbClr val="FFCC00"/>
        </a:lt2>
        <a:accent1>
          <a:srgbClr val="6B6253"/>
        </a:accent1>
        <a:accent2>
          <a:srgbClr val="72543E"/>
        </a:accent2>
        <a:accent3>
          <a:srgbClr val="AAAAAA"/>
        </a:accent3>
        <a:accent4>
          <a:srgbClr val="DADAAE"/>
        </a:accent4>
        <a:accent5>
          <a:srgbClr val="BAB7B3"/>
        </a:accent5>
        <a:accent6>
          <a:srgbClr val="674B37"/>
        </a:accent6>
        <a:hlink>
          <a:srgbClr val="DA988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ctus 2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F5EBC1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9F3DD"/>
        </a:accent5>
        <a:accent6>
          <a:srgbClr val="E7B900"/>
        </a:accent6>
        <a:hlink>
          <a:srgbClr val="D4876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ctus 3">
        <a:dk1>
          <a:srgbClr val="000000"/>
        </a:dk1>
        <a:lt1>
          <a:srgbClr val="FFFFFF"/>
        </a:lt1>
        <a:dk2>
          <a:srgbClr val="000000"/>
        </a:dk2>
        <a:lt2>
          <a:srgbClr val="292929"/>
        </a:lt2>
        <a:accent1>
          <a:srgbClr val="EAEAEA"/>
        </a:accent1>
        <a:accent2>
          <a:srgbClr val="969696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878787"/>
        </a:accent6>
        <a:hlink>
          <a:srgbClr val="5F5F5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ctus 4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D8EBB3"/>
        </a:accent1>
        <a:accent2>
          <a:srgbClr val="CCCC00"/>
        </a:accent2>
        <a:accent3>
          <a:srgbClr val="FFFFFF"/>
        </a:accent3>
        <a:accent4>
          <a:srgbClr val="000000"/>
        </a:accent4>
        <a:accent5>
          <a:srgbClr val="E9F3D6"/>
        </a:accent5>
        <a:accent6>
          <a:srgbClr val="B9B900"/>
        </a:accent6>
        <a:hlink>
          <a:srgbClr val="FFBE7D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ctus 5">
        <a:dk1>
          <a:srgbClr val="000000"/>
        </a:dk1>
        <a:lt1>
          <a:srgbClr val="E5D3B3"/>
        </a:lt1>
        <a:dk2>
          <a:srgbClr val="800000"/>
        </a:dk2>
        <a:lt2>
          <a:srgbClr val="009900"/>
        </a:lt2>
        <a:accent1>
          <a:srgbClr val="D5B095"/>
        </a:accent1>
        <a:accent2>
          <a:srgbClr val="E28666"/>
        </a:accent2>
        <a:accent3>
          <a:srgbClr val="F0E6D6"/>
        </a:accent3>
        <a:accent4>
          <a:srgbClr val="000000"/>
        </a:accent4>
        <a:accent5>
          <a:srgbClr val="E7D4C8"/>
        </a:accent5>
        <a:accent6>
          <a:srgbClr val="CD795C"/>
        </a:accent6>
        <a:hlink>
          <a:srgbClr val="B75735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Cactus 6">
        <a:dk1>
          <a:srgbClr val="99CC00"/>
        </a:dk1>
        <a:lt1>
          <a:srgbClr val="FFFFFF"/>
        </a:lt1>
        <a:dk2>
          <a:srgbClr val="51399D"/>
        </a:dk2>
        <a:lt2>
          <a:srgbClr val="FFFFCC"/>
        </a:lt2>
        <a:accent1>
          <a:srgbClr val="877CAA"/>
        </a:accent1>
        <a:accent2>
          <a:srgbClr val="000058"/>
        </a:accent2>
        <a:accent3>
          <a:srgbClr val="B3AECC"/>
        </a:accent3>
        <a:accent4>
          <a:srgbClr val="DADADA"/>
        </a:accent4>
        <a:accent5>
          <a:srgbClr val="C3BFD2"/>
        </a:accent5>
        <a:accent6>
          <a:srgbClr val="00004F"/>
        </a:accent6>
        <a:hlink>
          <a:srgbClr val="FFCC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Cactus 7">
        <a:dk1>
          <a:srgbClr val="000000"/>
        </a:dk1>
        <a:lt1>
          <a:srgbClr val="FFFFFF"/>
        </a:lt1>
        <a:dk2>
          <a:srgbClr val="000000"/>
        </a:dk2>
        <a:lt2>
          <a:srgbClr val="006600"/>
        </a:lt2>
        <a:accent1>
          <a:srgbClr val="F5EBC1"/>
        </a:accent1>
        <a:accent2>
          <a:srgbClr val="FFCC00"/>
        </a:accent2>
        <a:accent3>
          <a:srgbClr val="FFFFFF"/>
        </a:accent3>
        <a:accent4>
          <a:srgbClr val="000000"/>
        </a:accent4>
        <a:accent5>
          <a:srgbClr val="F9F3DD"/>
        </a:accent5>
        <a:accent6>
          <a:srgbClr val="E7B900"/>
        </a:accent6>
        <a:hlink>
          <a:srgbClr val="0066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Designs\Cactus.pot</Template>
  <TotalTime>44517</TotalTime>
  <Words>764</Words>
  <Application>Microsoft Office PowerPoint</Application>
  <PresentationFormat>Widescreen</PresentationFormat>
  <Paragraphs>78</Paragraphs>
  <Slides>12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22" baseType="lpstr">
      <vt:lpstr>Arial</vt:lpstr>
      <vt:lpstr>Arial Narrow</vt:lpstr>
      <vt:lpstr>Blackadder ITC</vt:lpstr>
      <vt:lpstr>Calibri</vt:lpstr>
      <vt:lpstr>Cambria Math</vt:lpstr>
      <vt:lpstr>Courier New</vt:lpstr>
      <vt:lpstr>Sakkal Majalla</vt:lpstr>
      <vt:lpstr>Times New Roman</vt:lpstr>
      <vt:lpstr>Wingdings</vt:lpstr>
      <vt:lpstr>Cactus</vt:lpstr>
      <vt:lpstr>PRNet: PAPR Reduction via Deep Autoencoder</vt:lpstr>
      <vt:lpstr>The Autoencoder Paradigm Shift</vt:lpstr>
      <vt:lpstr>PRNet Transceiver Architecture</vt:lpstr>
      <vt:lpstr>End-to-End System Model</vt:lpstr>
      <vt:lpstr>The Joint Loss Function</vt:lpstr>
      <vt:lpstr>Two-Stage Training Methodology</vt:lpstr>
      <vt:lpstr>Simulation Setup &amp; Parameters</vt:lpstr>
      <vt:lpstr>Learned Constellation Shaping</vt:lpstr>
      <vt:lpstr>BER Performance</vt:lpstr>
      <vt:lpstr>PAPR Performance</vt:lpstr>
      <vt:lpstr>PAPR Reduction – Discrepancy Investigated</vt:lpstr>
      <vt:lpstr>Computational Complexity &amp; Limitations</vt:lpstr>
    </vt:vector>
  </TitlesOfParts>
  <Company>MWL- KTH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the Point Matching Method to Model Circumferentially Segmented Non-Locally Reacting Liners</dc:title>
  <dc:creator>Tamer Elnady</dc:creator>
  <cp:lastModifiedBy>Youssef Samir Sleem Ahmed 1901012</cp:lastModifiedBy>
  <cp:revision>680</cp:revision>
  <cp:lastPrinted>1601-01-01T00:00:00Z</cp:lastPrinted>
  <dcterms:created xsi:type="dcterms:W3CDTF">2001-03-23T16:50:49Z</dcterms:created>
  <dcterms:modified xsi:type="dcterms:W3CDTF">2026-06-23T13:58:01Z</dcterms:modified>
</cp:coreProperties>
</file>